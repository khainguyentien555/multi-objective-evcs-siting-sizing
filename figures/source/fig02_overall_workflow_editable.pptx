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57" r:id="rId3"/>
    <p:sldId id="259" r:id="rId4"/>
    <p:sldId id="265" r:id="rId5"/>
    <p:sldId id="267" r:id="rId6"/>
    <p:sldId id="260" r:id="rId7"/>
    <p:sldId id="266" r:id="rId8"/>
    <p:sldId id="263" r:id="rId9"/>
    <p:sldId id="264" r:id="rId10"/>
  </p:sldIdLst>
  <p:sldSz cx="27432000" cy="18288000"/>
  <p:notesSz cx="6858000" cy="9144000"/>
  <p:defaultTextStyle>
    <a:defPPr>
      <a:defRPr lang="en-US"/>
    </a:defPPr>
    <a:lvl1pPr marL="0" algn="l" defTabSz="1489100" rtl="0" eaLnBrk="1" latinLnBrk="0" hangingPunct="1">
      <a:defRPr sz="2931" kern="1200">
        <a:solidFill>
          <a:schemeClr val="tx1"/>
        </a:solidFill>
        <a:latin typeface="+mn-lt"/>
        <a:ea typeface="+mn-ea"/>
        <a:cs typeface="+mn-cs"/>
      </a:defRPr>
    </a:lvl1pPr>
    <a:lvl2pPr marL="744550" algn="l" defTabSz="1489100" rtl="0" eaLnBrk="1" latinLnBrk="0" hangingPunct="1">
      <a:defRPr sz="2931" kern="1200">
        <a:solidFill>
          <a:schemeClr val="tx1"/>
        </a:solidFill>
        <a:latin typeface="+mn-lt"/>
        <a:ea typeface="+mn-ea"/>
        <a:cs typeface="+mn-cs"/>
      </a:defRPr>
    </a:lvl2pPr>
    <a:lvl3pPr marL="1489100" algn="l" defTabSz="1489100" rtl="0" eaLnBrk="1" latinLnBrk="0" hangingPunct="1">
      <a:defRPr sz="2931" kern="1200">
        <a:solidFill>
          <a:schemeClr val="tx1"/>
        </a:solidFill>
        <a:latin typeface="+mn-lt"/>
        <a:ea typeface="+mn-ea"/>
        <a:cs typeface="+mn-cs"/>
      </a:defRPr>
    </a:lvl3pPr>
    <a:lvl4pPr marL="2233651" algn="l" defTabSz="1489100" rtl="0" eaLnBrk="1" latinLnBrk="0" hangingPunct="1">
      <a:defRPr sz="2931" kern="1200">
        <a:solidFill>
          <a:schemeClr val="tx1"/>
        </a:solidFill>
        <a:latin typeface="+mn-lt"/>
        <a:ea typeface="+mn-ea"/>
        <a:cs typeface="+mn-cs"/>
      </a:defRPr>
    </a:lvl4pPr>
    <a:lvl5pPr marL="2978201" algn="l" defTabSz="1489100" rtl="0" eaLnBrk="1" latinLnBrk="0" hangingPunct="1">
      <a:defRPr sz="2931" kern="1200">
        <a:solidFill>
          <a:schemeClr val="tx1"/>
        </a:solidFill>
        <a:latin typeface="+mn-lt"/>
        <a:ea typeface="+mn-ea"/>
        <a:cs typeface="+mn-cs"/>
      </a:defRPr>
    </a:lvl5pPr>
    <a:lvl6pPr marL="3722751" algn="l" defTabSz="1489100" rtl="0" eaLnBrk="1" latinLnBrk="0" hangingPunct="1">
      <a:defRPr sz="2931" kern="1200">
        <a:solidFill>
          <a:schemeClr val="tx1"/>
        </a:solidFill>
        <a:latin typeface="+mn-lt"/>
        <a:ea typeface="+mn-ea"/>
        <a:cs typeface="+mn-cs"/>
      </a:defRPr>
    </a:lvl6pPr>
    <a:lvl7pPr marL="4467301" algn="l" defTabSz="1489100" rtl="0" eaLnBrk="1" latinLnBrk="0" hangingPunct="1">
      <a:defRPr sz="2931" kern="1200">
        <a:solidFill>
          <a:schemeClr val="tx1"/>
        </a:solidFill>
        <a:latin typeface="+mn-lt"/>
        <a:ea typeface="+mn-ea"/>
        <a:cs typeface="+mn-cs"/>
      </a:defRPr>
    </a:lvl7pPr>
    <a:lvl8pPr marL="5211851" algn="l" defTabSz="1489100" rtl="0" eaLnBrk="1" latinLnBrk="0" hangingPunct="1">
      <a:defRPr sz="2931" kern="1200">
        <a:solidFill>
          <a:schemeClr val="tx1"/>
        </a:solidFill>
        <a:latin typeface="+mn-lt"/>
        <a:ea typeface="+mn-ea"/>
        <a:cs typeface="+mn-cs"/>
      </a:defRPr>
    </a:lvl8pPr>
    <a:lvl9pPr marL="5956402" algn="l" defTabSz="1489100" rtl="0" eaLnBrk="1" latinLnBrk="0" hangingPunct="1">
      <a:defRPr sz="293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7D2D9"/>
    <a:srgbClr val="F2F5FA"/>
    <a:srgbClr val="F9731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510" y="-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65208" y="16559802"/>
            <a:ext cx="25100280" cy="121917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2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2718" y="2609088"/>
            <a:ext cx="25100280" cy="9144000"/>
          </a:xfrm>
        </p:spPr>
        <p:txBody>
          <a:bodyPr anchor="t">
            <a:normAutofit/>
          </a:bodyPr>
          <a:lstStyle>
            <a:lvl1pPr algn="l">
              <a:defRPr sz="12802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2719" y="11948160"/>
            <a:ext cx="15985998" cy="3730752"/>
          </a:xfrm>
        </p:spPr>
        <p:txBody>
          <a:bodyPr anchor="b">
            <a:normAutofit/>
          </a:bodyPr>
          <a:lstStyle>
            <a:lvl1pPr marL="0" indent="0" algn="l">
              <a:buNone/>
              <a:defRPr sz="3912" i="1"/>
            </a:lvl1pPr>
            <a:lvl2pPr marL="812932" indent="0" algn="ctr">
              <a:buNone/>
              <a:defRPr sz="3556"/>
            </a:lvl2pPr>
            <a:lvl3pPr marL="1625864" indent="0" algn="ctr">
              <a:buNone/>
              <a:defRPr sz="3200"/>
            </a:lvl3pPr>
            <a:lvl4pPr marL="2438796" indent="0" algn="ctr">
              <a:buNone/>
              <a:defRPr sz="2844"/>
            </a:lvl4pPr>
            <a:lvl5pPr marL="3251729" indent="0" algn="ctr">
              <a:buNone/>
              <a:defRPr sz="2844"/>
            </a:lvl5pPr>
            <a:lvl6pPr marL="4064661" indent="0" algn="ctr">
              <a:buNone/>
              <a:defRPr sz="2844"/>
            </a:lvl6pPr>
            <a:lvl7pPr marL="4877593" indent="0" algn="ctr">
              <a:buNone/>
              <a:defRPr sz="2844"/>
            </a:lvl7pPr>
            <a:lvl8pPr marL="5690525" indent="0" algn="ctr">
              <a:buNone/>
              <a:defRPr sz="2844"/>
            </a:lvl8pPr>
            <a:lvl9pPr marL="6503457" indent="0" algn="ctr">
              <a:buNone/>
              <a:defRPr sz="2844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309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881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2718" y="2609088"/>
            <a:ext cx="11295127" cy="11436096"/>
          </a:xfrm>
        </p:spPr>
        <p:txBody>
          <a:bodyPr anchor="t">
            <a:normAutofit/>
          </a:bodyPr>
          <a:lstStyle>
            <a:lvl1pPr>
              <a:defRPr sz="960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72718" y="14045184"/>
            <a:ext cx="11295127" cy="2901696"/>
          </a:xfrm>
        </p:spPr>
        <p:txBody>
          <a:bodyPr anchor="b">
            <a:normAutofit/>
          </a:bodyPr>
          <a:lstStyle>
            <a:lvl1pPr marL="0" indent="0">
              <a:buNone/>
              <a:defRPr sz="3912" i="1">
                <a:solidFill>
                  <a:schemeClr val="tx1">
                    <a:tint val="82000"/>
                  </a:schemeClr>
                </a:solidFill>
              </a:defRPr>
            </a:lvl1pPr>
            <a:lvl2pPr marL="812932" indent="0">
              <a:buNone/>
              <a:defRPr sz="3556">
                <a:solidFill>
                  <a:schemeClr val="tx1">
                    <a:tint val="82000"/>
                  </a:schemeClr>
                </a:solidFill>
              </a:defRPr>
            </a:lvl2pPr>
            <a:lvl3pPr marL="1625864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3pPr>
            <a:lvl4pPr marL="2438796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4pPr>
            <a:lvl5pPr marL="3251729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5pPr>
            <a:lvl6pPr marL="4064661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6pPr>
            <a:lvl7pPr marL="4877593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7pPr>
            <a:lvl8pPr marL="5690525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8pPr>
            <a:lvl9pPr marL="6503457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1165222" y="1354910"/>
            <a:ext cx="11297662" cy="39807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3615037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72718" y="6876288"/>
            <a:ext cx="11624310" cy="100462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669262" y="6876288"/>
            <a:ext cx="11624310" cy="100462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673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2720" y="2609088"/>
            <a:ext cx="25120853" cy="32430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72718" y="6242304"/>
            <a:ext cx="11624310" cy="1755648"/>
          </a:xfrm>
        </p:spPr>
        <p:txBody>
          <a:bodyPr anchor="b">
            <a:normAutofit/>
          </a:bodyPr>
          <a:lstStyle>
            <a:lvl1pPr marL="0" indent="0">
              <a:buNone/>
              <a:defRPr sz="3912" b="0" i="1"/>
            </a:lvl1pPr>
            <a:lvl2pPr marL="812932" indent="0">
              <a:buNone/>
              <a:defRPr sz="3556" b="1"/>
            </a:lvl2pPr>
            <a:lvl3pPr marL="1625864" indent="0">
              <a:buNone/>
              <a:defRPr sz="3200" b="1"/>
            </a:lvl3pPr>
            <a:lvl4pPr marL="2438796" indent="0">
              <a:buNone/>
              <a:defRPr sz="2844" b="1"/>
            </a:lvl4pPr>
            <a:lvl5pPr marL="3251729" indent="0">
              <a:buNone/>
              <a:defRPr sz="2844" b="1"/>
            </a:lvl5pPr>
            <a:lvl6pPr marL="4064661" indent="0">
              <a:buNone/>
              <a:defRPr sz="2844" b="1"/>
            </a:lvl6pPr>
            <a:lvl7pPr marL="4877593" indent="0">
              <a:buNone/>
              <a:defRPr sz="2844" b="1"/>
            </a:lvl7pPr>
            <a:lvl8pPr marL="5690525" indent="0">
              <a:buNone/>
              <a:defRPr sz="2844" b="1"/>
            </a:lvl8pPr>
            <a:lvl9pPr marL="6503457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72718" y="8095488"/>
            <a:ext cx="11624310" cy="88270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4669262" y="6242304"/>
            <a:ext cx="11624310" cy="1755648"/>
          </a:xfrm>
        </p:spPr>
        <p:txBody>
          <a:bodyPr anchor="b">
            <a:normAutofit/>
          </a:bodyPr>
          <a:lstStyle>
            <a:lvl1pPr marL="0" indent="0">
              <a:buNone/>
              <a:defRPr sz="3912" b="0" i="1"/>
            </a:lvl1pPr>
            <a:lvl2pPr marL="812932" indent="0">
              <a:buNone/>
              <a:defRPr sz="3556" b="1"/>
            </a:lvl2pPr>
            <a:lvl3pPr marL="1625864" indent="0">
              <a:buNone/>
              <a:defRPr sz="3200" b="1"/>
            </a:lvl3pPr>
            <a:lvl4pPr marL="2438796" indent="0">
              <a:buNone/>
              <a:defRPr sz="2844" b="1"/>
            </a:lvl4pPr>
            <a:lvl5pPr marL="3251729" indent="0">
              <a:buNone/>
              <a:defRPr sz="2844" b="1"/>
            </a:lvl5pPr>
            <a:lvl6pPr marL="4064661" indent="0">
              <a:buNone/>
              <a:defRPr sz="2844" b="1"/>
            </a:lvl6pPr>
            <a:lvl7pPr marL="4877593" indent="0">
              <a:buNone/>
              <a:defRPr sz="2844" b="1"/>
            </a:lvl7pPr>
            <a:lvl8pPr marL="5690525" indent="0">
              <a:buNone/>
              <a:defRPr sz="2844" b="1"/>
            </a:lvl8pPr>
            <a:lvl9pPr marL="6503457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4669262" y="8095488"/>
            <a:ext cx="11624310" cy="88270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63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127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535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2718" y="2609088"/>
            <a:ext cx="11295127" cy="6559296"/>
          </a:xfrm>
        </p:spPr>
        <p:txBody>
          <a:bodyPr anchor="t">
            <a:noAutofit/>
          </a:bodyPr>
          <a:lstStyle>
            <a:lvl1pPr>
              <a:defRPr sz="7823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69262" y="2633130"/>
            <a:ext cx="11624310" cy="14289024"/>
          </a:xfrm>
        </p:spPr>
        <p:txBody>
          <a:bodyPr>
            <a:normAutofit/>
          </a:bodyPr>
          <a:lstStyle>
            <a:lvl1pPr>
              <a:defRPr sz="3556"/>
            </a:lvl1pPr>
            <a:lvl2pPr>
              <a:defRPr sz="3200"/>
            </a:lvl2pPr>
            <a:lvl3pPr>
              <a:defRPr sz="2844"/>
            </a:lvl3pPr>
            <a:lvl4pPr>
              <a:defRPr sz="2489"/>
            </a:lvl4pPr>
            <a:lvl5pPr>
              <a:defRPr sz="2489"/>
            </a:lvl5pPr>
            <a:lvl6pPr>
              <a:defRPr sz="3556"/>
            </a:lvl6pPr>
            <a:lvl7pPr>
              <a:defRPr sz="3556"/>
            </a:lvl7pPr>
            <a:lvl8pPr>
              <a:defRPr sz="3556"/>
            </a:lvl8pPr>
            <a:lvl9pPr>
              <a:defRPr sz="3556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72718" y="9534144"/>
            <a:ext cx="11295127" cy="7388352"/>
          </a:xfrm>
        </p:spPr>
        <p:txBody>
          <a:bodyPr>
            <a:normAutofit/>
          </a:bodyPr>
          <a:lstStyle>
            <a:lvl1pPr marL="0" indent="0">
              <a:buNone/>
              <a:defRPr sz="3912" i="1"/>
            </a:lvl1pPr>
            <a:lvl2pPr marL="812932" indent="0">
              <a:buNone/>
              <a:defRPr sz="2489"/>
            </a:lvl2pPr>
            <a:lvl3pPr marL="1625864" indent="0">
              <a:buNone/>
              <a:defRPr sz="2133"/>
            </a:lvl3pPr>
            <a:lvl4pPr marL="2438796" indent="0">
              <a:buNone/>
              <a:defRPr sz="1778"/>
            </a:lvl4pPr>
            <a:lvl5pPr marL="3251729" indent="0">
              <a:buNone/>
              <a:defRPr sz="1778"/>
            </a:lvl5pPr>
            <a:lvl6pPr marL="4064661" indent="0">
              <a:buNone/>
              <a:defRPr sz="1778"/>
            </a:lvl6pPr>
            <a:lvl7pPr marL="4877593" indent="0">
              <a:buNone/>
              <a:defRPr sz="1778"/>
            </a:lvl7pPr>
            <a:lvl8pPr marL="5690525" indent="0">
              <a:buNone/>
              <a:defRPr sz="1778"/>
            </a:lvl8pPr>
            <a:lvl9pPr marL="6503457" indent="0">
              <a:buNone/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986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2718" y="2609088"/>
            <a:ext cx="11295127" cy="6559296"/>
          </a:xfrm>
        </p:spPr>
        <p:txBody>
          <a:bodyPr anchor="t">
            <a:noAutofit/>
          </a:bodyPr>
          <a:lstStyle>
            <a:lvl1pPr>
              <a:defRPr sz="7823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4669262" y="2633130"/>
            <a:ext cx="11624310" cy="14289024"/>
          </a:xfrm>
        </p:spPr>
        <p:txBody>
          <a:bodyPr/>
          <a:lstStyle>
            <a:lvl1pPr marL="0" indent="0">
              <a:buNone/>
              <a:defRPr sz="5690"/>
            </a:lvl1pPr>
            <a:lvl2pPr marL="812932" indent="0">
              <a:buNone/>
              <a:defRPr sz="4979"/>
            </a:lvl2pPr>
            <a:lvl3pPr marL="1625864" indent="0">
              <a:buNone/>
              <a:defRPr sz="4268"/>
            </a:lvl3pPr>
            <a:lvl4pPr marL="2438796" indent="0">
              <a:buNone/>
              <a:defRPr sz="3556"/>
            </a:lvl4pPr>
            <a:lvl5pPr marL="3251729" indent="0">
              <a:buNone/>
              <a:defRPr sz="3556"/>
            </a:lvl5pPr>
            <a:lvl6pPr marL="4064661" indent="0">
              <a:buNone/>
              <a:defRPr sz="3556"/>
            </a:lvl6pPr>
            <a:lvl7pPr marL="4877593" indent="0">
              <a:buNone/>
              <a:defRPr sz="3556"/>
            </a:lvl7pPr>
            <a:lvl8pPr marL="5690525" indent="0">
              <a:buNone/>
              <a:defRPr sz="3556"/>
            </a:lvl8pPr>
            <a:lvl9pPr marL="6503457" indent="0">
              <a:buNone/>
              <a:defRPr sz="3556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72718" y="9534144"/>
            <a:ext cx="11295127" cy="7388352"/>
          </a:xfrm>
        </p:spPr>
        <p:txBody>
          <a:bodyPr>
            <a:normAutofit/>
          </a:bodyPr>
          <a:lstStyle>
            <a:lvl1pPr marL="0" indent="0">
              <a:buNone/>
              <a:defRPr sz="3912" i="1"/>
            </a:lvl1pPr>
            <a:lvl2pPr marL="812932" indent="0">
              <a:buNone/>
              <a:defRPr sz="2489"/>
            </a:lvl2pPr>
            <a:lvl3pPr marL="1625864" indent="0">
              <a:buNone/>
              <a:defRPr sz="2133"/>
            </a:lvl3pPr>
            <a:lvl4pPr marL="2438796" indent="0">
              <a:buNone/>
              <a:defRPr sz="1778"/>
            </a:lvl4pPr>
            <a:lvl5pPr marL="3251729" indent="0">
              <a:buNone/>
              <a:defRPr sz="1778"/>
            </a:lvl5pPr>
            <a:lvl6pPr marL="4064661" indent="0">
              <a:buNone/>
              <a:defRPr sz="1778"/>
            </a:lvl6pPr>
            <a:lvl7pPr marL="4877593" indent="0">
              <a:buNone/>
              <a:defRPr sz="1778"/>
            </a:lvl7pPr>
            <a:lvl8pPr marL="5690525" indent="0">
              <a:buNone/>
              <a:defRPr sz="1778"/>
            </a:lvl8pPr>
            <a:lvl9pPr marL="6503457" indent="0">
              <a:buNone/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985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503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9483578" y="2609088"/>
            <a:ext cx="5740147" cy="1431340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72720" y="2609088"/>
            <a:ext cx="18022823" cy="1431340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18997874" y="9591155"/>
            <a:ext cx="14201958" cy="3358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2461624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2718" y="2609088"/>
            <a:ext cx="25100280" cy="39014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72718" y="6876288"/>
            <a:ext cx="25100280" cy="10046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72718" y="17117576"/>
            <a:ext cx="61722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72718" y="268232"/>
            <a:ext cx="92583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779222" y="17117576"/>
            <a:ext cx="144018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65215" y="1354910"/>
            <a:ext cx="25094733" cy="398078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1327069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1625864" rtl="0" eaLnBrk="1" latinLnBrk="0" hangingPunct="1">
        <a:lnSpc>
          <a:spcPct val="100000"/>
        </a:lnSpc>
        <a:spcBef>
          <a:spcPct val="0"/>
        </a:spcBef>
        <a:buNone/>
        <a:defRPr sz="7823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6466" indent="-406466" algn="l" defTabSz="1625864" rtl="0" eaLnBrk="1" latinLnBrk="0" hangingPunct="1">
        <a:lnSpc>
          <a:spcPct val="110000"/>
        </a:lnSpc>
        <a:spcBef>
          <a:spcPts val="1778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1219399" indent="-406466" algn="l" defTabSz="1625864" rtl="0" eaLnBrk="1" latinLnBrk="0" hangingPunct="1">
        <a:lnSpc>
          <a:spcPct val="110000"/>
        </a:lnSpc>
        <a:spcBef>
          <a:spcPts val="889"/>
        </a:spcBef>
        <a:buFont typeface="Arial" panose="020B0604020202020204" pitchFamily="34" charset="0"/>
        <a:buChar char="•"/>
        <a:defRPr sz="2844" kern="1200">
          <a:solidFill>
            <a:schemeClr val="tx1"/>
          </a:solidFill>
          <a:latin typeface="+mn-lt"/>
          <a:ea typeface="+mn-ea"/>
          <a:cs typeface="+mn-cs"/>
        </a:defRPr>
      </a:lvl2pPr>
      <a:lvl3pPr marL="2032331" indent="-406466" algn="l" defTabSz="1625864" rtl="0" eaLnBrk="1" latinLnBrk="0" hangingPunct="1">
        <a:lnSpc>
          <a:spcPct val="110000"/>
        </a:lnSpc>
        <a:spcBef>
          <a:spcPts val="889"/>
        </a:spcBef>
        <a:buFont typeface="Arial" panose="020B0604020202020204" pitchFamily="34" charset="0"/>
        <a:buChar char="•"/>
        <a:defRPr sz="2489" kern="1200">
          <a:solidFill>
            <a:schemeClr val="tx1"/>
          </a:solidFill>
          <a:latin typeface="+mn-lt"/>
          <a:ea typeface="+mn-ea"/>
          <a:cs typeface="+mn-cs"/>
        </a:defRPr>
      </a:lvl3pPr>
      <a:lvl4pPr marL="2845263" indent="-406466" algn="l" defTabSz="1625864" rtl="0" eaLnBrk="1" latinLnBrk="0" hangingPunct="1">
        <a:lnSpc>
          <a:spcPct val="110000"/>
        </a:lnSpc>
        <a:spcBef>
          <a:spcPts val="889"/>
        </a:spcBef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4pPr>
      <a:lvl5pPr marL="3658195" indent="-406466" algn="l" defTabSz="1625864" rtl="0" eaLnBrk="1" latinLnBrk="0" hangingPunct="1">
        <a:lnSpc>
          <a:spcPct val="110000"/>
        </a:lnSpc>
        <a:spcBef>
          <a:spcPts val="889"/>
        </a:spcBef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5pPr>
      <a:lvl6pPr marL="4471126" indent="-406466" algn="l" defTabSz="1625864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5284058" indent="-406466" algn="l" defTabSz="1625864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6096990" indent="-406466" algn="l" defTabSz="1625864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909922" indent="-406466" algn="l" defTabSz="1625864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2586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2932" algn="l" defTabSz="162586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25864" algn="l" defTabSz="162586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38796" algn="l" defTabSz="162586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51729" algn="l" defTabSz="162586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64661" algn="l" defTabSz="162586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77593" algn="l" defTabSz="162586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690525" algn="l" defTabSz="162586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03457" algn="l" defTabSz="162586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6.wmf"/><Relationship Id="rId18" Type="http://schemas.openxmlformats.org/officeDocument/2006/relationships/oleObject" Target="../embeddings/oleObject9.bin"/><Relationship Id="rId3" Type="http://schemas.openxmlformats.org/officeDocument/2006/relationships/image" Target="../media/image1.wmf"/><Relationship Id="rId21" Type="http://schemas.openxmlformats.org/officeDocument/2006/relationships/image" Target="../media/image10.emf"/><Relationship Id="rId7" Type="http://schemas.openxmlformats.org/officeDocument/2006/relationships/image" Target="../media/image3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8.w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20" Type="http://schemas.openxmlformats.org/officeDocument/2006/relationships/oleObject" Target="../embeddings/oleObject1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5.wmf"/><Relationship Id="rId5" Type="http://schemas.openxmlformats.org/officeDocument/2006/relationships/image" Target="../media/image2.wmf"/><Relationship Id="rId15" Type="http://schemas.openxmlformats.org/officeDocument/2006/relationships/image" Target="../media/image7.wmf"/><Relationship Id="rId23" Type="http://schemas.openxmlformats.org/officeDocument/2006/relationships/image" Target="../media/image11.wmf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9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wmf"/><Relationship Id="rId14" Type="http://schemas.openxmlformats.org/officeDocument/2006/relationships/oleObject" Target="../embeddings/oleObject7.bin"/><Relationship Id="rId22" Type="http://schemas.openxmlformats.org/officeDocument/2006/relationships/oleObject" Target="../embeddings/oleObject1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6.wmf"/><Relationship Id="rId3" Type="http://schemas.openxmlformats.org/officeDocument/2006/relationships/image" Target="../media/image1.wmf"/><Relationship Id="rId7" Type="http://schemas.openxmlformats.org/officeDocument/2006/relationships/image" Target="../media/image3.wmf"/><Relationship Id="rId12" Type="http://schemas.openxmlformats.org/officeDocument/2006/relationships/oleObject" Target="../embeddings/oleObject6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5.wmf"/><Relationship Id="rId5" Type="http://schemas.openxmlformats.org/officeDocument/2006/relationships/image" Target="../media/image2.wmf"/><Relationship Id="rId15" Type="http://schemas.openxmlformats.org/officeDocument/2006/relationships/image" Target="../media/image7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wmf"/><Relationship Id="rId14" Type="http://schemas.openxmlformats.org/officeDocument/2006/relationships/oleObject" Target="../embeddings/oleObject7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D70AF-E6C3-3EED-011B-99C85042D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4F39B846-81F6-CC7D-AD85-3F34D80785D8}"/>
              </a:ext>
            </a:extLst>
          </p:cNvPr>
          <p:cNvSpPr/>
          <p:nvPr/>
        </p:nvSpPr>
        <p:spPr>
          <a:xfrm>
            <a:off x="3867005" y="762049"/>
            <a:ext cx="4121311" cy="3451042"/>
          </a:xfrm>
          <a:prstGeom prst="roundRect">
            <a:avLst/>
          </a:prstGeom>
          <a:solidFill>
            <a:srgbClr val="F2F5FA"/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DA7D4E1-36D6-753D-9550-52B98FA5C5E1}"/>
              </a:ext>
            </a:extLst>
          </p:cNvPr>
          <p:cNvSpPr txBox="1"/>
          <p:nvPr/>
        </p:nvSpPr>
        <p:spPr>
          <a:xfrm>
            <a:off x="4490774" y="818024"/>
            <a:ext cx="287377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Chương 1</a:t>
            </a:r>
            <a:endParaRPr lang="en-AU" sz="3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C40C554-30F3-2C9E-73C6-330D79FF5037}"/>
              </a:ext>
            </a:extLst>
          </p:cNvPr>
          <p:cNvSpPr/>
          <p:nvPr/>
        </p:nvSpPr>
        <p:spPr>
          <a:xfrm>
            <a:off x="3987800" y="1364832"/>
            <a:ext cx="3858276" cy="673979"/>
          </a:xfrm>
          <a:prstGeom prst="rect">
            <a:avLst/>
          </a:prstGeom>
          <a:noFill/>
          <a:ln w="95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 định tính cấp thiết.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CA34A284-EEBD-4FF7-6EC0-318B8467408D}"/>
              </a:ext>
            </a:extLst>
          </p:cNvPr>
          <p:cNvSpPr/>
          <p:nvPr/>
        </p:nvSpPr>
        <p:spPr>
          <a:xfrm>
            <a:off x="8877474" y="762048"/>
            <a:ext cx="8212289" cy="3451042"/>
          </a:xfrm>
          <a:prstGeom prst="roundRect">
            <a:avLst/>
          </a:prstGeom>
          <a:solidFill>
            <a:srgbClr val="F2F5FA"/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DFF8DE16-C04B-C608-5385-81279B0C007C}"/>
              </a:ext>
            </a:extLst>
          </p:cNvPr>
          <p:cNvSpPr txBox="1"/>
          <p:nvPr/>
        </p:nvSpPr>
        <p:spPr>
          <a:xfrm>
            <a:off x="11569281" y="811578"/>
            <a:ext cx="287377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Chương 2</a:t>
            </a:r>
            <a:endParaRPr lang="en-AU" sz="3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5" name="Arrow: Right 184">
            <a:extLst>
              <a:ext uri="{FF2B5EF4-FFF2-40B4-BE49-F238E27FC236}">
                <a16:creationId xmlns:a16="http://schemas.microsoft.com/office/drawing/2014/main" id="{545C195C-F929-E063-CF57-033BBB993B4E}"/>
              </a:ext>
            </a:extLst>
          </p:cNvPr>
          <p:cNvSpPr/>
          <p:nvPr/>
        </p:nvSpPr>
        <p:spPr>
          <a:xfrm>
            <a:off x="8147145" y="2061429"/>
            <a:ext cx="620956" cy="887724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14ED1A-73FA-AF8A-11E0-D52C14203B26}"/>
              </a:ext>
            </a:extLst>
          </p:cNvPr>
          <p:cNvSpPr/>
          <p:nvPr/>
        </p:nvSpPr>
        <p:spPr>
          <a:xfrm>
            <a:off x="3987800" y="2180578"/>
            <a:ext cx="3858276" cy="673979"/>
          </a:xfrm>
          <a:prstGeom prst="rect">
            <a:avLst/>
          </a:prstGeom>
          <a:noFill/>
          <a:ln w="95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 định các khoảng trống nghiên cứu.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4497BF-A576-1929-593F-CE90297E62F7}"/>
              </a:ext>
            </a:extLst>
          </p:cNvPr>
          <p:cNvSpPr/>
          <p:nvPr/>
        </p:nvSpPr>
        <p:spPr>
          <a:xfrm>
            <a:off x="3987800" y="2980288"/>
            <a:ext cx="3858276" cy="673979"/>
          </a:xfrm>
          <a:prstGeom prst="rect">
            <a:avLst/>
          </a:prstGeom>
          <a:noFill/>
          <a:ln w="95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 xuất các đóng góp mới.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EA5B19-177F-DF70-666D-318D1D1F6E12}"/>
              </a:ext>
            </a:extLst>
          </p:cNvPr>
          <p:cNvSpPr/>
          <p:nvPr/>
        </p:nvSpPr>
        <p:spPr>
          <a:xfrm>
            <a:off x="9083214" y="1364832"/>
            <a:ext cx="3858276" cy="673979"/>
          </a:xfrm>
          <a:prstGeom prst="rect">
            <a:avLst/>
          </a:prstGeom>
          <a:noFill/>
          <a:ln w="95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Nghiên cứu cơ sở lý thuyết.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91C439-84FB-BE1E-DD22-106036D3C700}"/>
              </a:ext>
            </a:extLst>
          </p:cNvPr>
          <p:cNvSpPr/>
          <p:nvPr/>
        </p:nvSpPr>
        <p:spPr>
          <a:xfrm>
            <a:off x="9083214" y="2180578"/>
            <a:ext cx="3858276" cy="673979"/>
          </a:xfrm>
          <a:prstGeom prst="rect">
            <a:avLst/>
          </a:prstGeom>
          <a:noFill/>
          <a:ln w="95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 định các thuật toán cần thực hiện.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2ED864-A123-6318-F23D-E587572DFFBC}"/>
              </a:ext>
            </a:extLst>
          </p:cNvPr>
          <p:cNvSpPr/>
          <p:nvPr/>
        </p:nvSpPr>
        <p:spPr>
          <a:xfrm>
            <a:off x="13068300" y="1364832"/>
            <a:ext cx="3858276" cy="673979"/>
          </a:xfrm>
          <a:prstGeom prst="rect">
            <a:avLst/>
          </a:prstGeom>
          <a:noFill/>
          <a:ln w="95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 trạng các công trình nghiên cứu.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573FBB4-F44D-4007-54B2-5E5C81319D44}"/>
              </a:ext>
            </a:extLst>
          </p:cNvPr>
          <p:cNvSpPr/>
          <p:nvPr/>
        </p:nvSpPr>
        <p:spPr>
          <a:xfrm>
            <a:off x="13068300" y="2180578"/>
            <a:ext cx="3858276" cy="673979"/>
          </a:xfrm>
          <a:prstGeom prst="rect">
            <a:avLst/>
          </a:prstGeom>
          <a:noFill/>
          <a:ln w="95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 định các mô hình mô phỏng cần thực hiện.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AD86D97D-C2A7-EA7E-6D44-7F5B3D5B4C19}"/>
              </a:ext>
            </a:extLst>
          </p:cNvPr>
          <p:cNvSpPr/>
          <p:nvPr/>
        </p:nvSpPr>
        <p:spPr>
          <a:xfrm>
            <a:off x="17295503" y="2061429"/>
            <a:ext cx="620956" cy="887724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C2646E1-4BE3-0008-EE8A-EBE4412A0075}"/>
              </a:ext>
            </a:extLst>
          </p:cNvPr>
          <p:cNvSpPr/>
          <p:nvPr/>
        </p:nvSpPr>
        <p:spPr>
          <a:xfrm>
            <a:off x="17978921" y="762048"/>
            <a:ext cx="8212289" cy="3451042"/>
          </a:xfrm>
          <a:prstGeom prst="roundRect">
            <a:avLst/>
          </a:prstGeom>
          <a:solidFill>
            <a:srgbClr val="F2F5FA"/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8283FE-5999-E383-2952-EB839A5129E5}"/>
              </a:ext>
            </a:extLst>
          </p:cNvPr>
          <p:cNvSpPr txBox="1"/>
          <p:nvPr/>
        </p:nvSpPr>
        <p:spPr>
          <a:xfrm>
            <a:off x="20670728" y="811578"/>
            <a:ext cx="287377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Chương 3</a:t>
            </a:r>
            <a:endParaRPr lang="en-AU" sz="3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C03FFA7-BEE4-A36F-1C02-BEA1449DE9DE}"/>
              </a:ext>
            </a:extLst>
          </p:cNvPr>
          <p:cNvSpPr/>
          <p:nvPr/>
        </p:nvSpPr>
        <p:spPr>
          <a:xfrm>
            <a:off x="18184661" y="1364832"/>
            <a:ext cx="3858276" cy="673979"/>
          </a:xfrm>
          <a:prstGeom prst="rect">
            <a:avLst/>
          </a:prstGeom>
          <a:noFill/>
          <a:ln w="95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 định khu vực cần nghiên cứu.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2436CC-2F4C-356D-867F-ECA72AC4453A}"/>
              </a:ext>
            </a:extLst>
          </p:cNvPr>
          <p:cNvSpPr/>
          <p:nvPr/>
        </p:nvSpPr>
        <p:spPr>
          <a:xfrm>
            <a:off x="18184661" y="2180578"/>
            <a:ext cx="3858276" cy="673979"/>
          </a:xfrm>
          <a:prstGeom prst="rect">
            <a:avLst/>
          </a:prstGeom>
          <a:noFill/>
          <a:ln w="95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 thập dữ liệu đầu vào.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366BA34-C89B-AD6E-9773-2E09945E1340}"/>
              </a:ext>
            </a:extLst>
          </p:cNvPr>
          <p:cNvSpPr/>
          <p:nvPr/>
        </p:nvSpPr>
        <p:spPr>
          <a:xfrm>
            <a:off x="22169747" y="1364832"/>
            <a:ext cx="3858276" cy="673979"/>
          </a:xfrm>
          <a:prstGeom prst="rect">
            <a:avLst/>
          </a:prstGeom>
          <a:noFill/>
          <a:ln w="95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Xây dựng kịch bản </a:t>
            </a:r>
            <a:r>
              <a:rPr lang="en-AU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thâm nhập của xe điện.</a:t>
            </a:r>
            <a:endParaRPr lang="en-US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6100A70-59CF-CF50-109C-EC83AD67E355}"/>
              </a:ext>
            </a:extLst>
          </p:cNvPr>
          <p:cNvSpPr/>
          <p:nvPr/>
        </p:nvSpPr>
        <p:spPr>
          <a:xfrm>
            <a:off x="22169747" y="2180578"/>
            <a:ext cx="3858276" cy="673979"/>
          </a:xfrm>
          <a:prstGeom prst="rect">
            <a:avLst/>
          </a:prstGeom>
          <a:noFill/>
          <a:ln w="95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 xuất lựa chọn thông số trụ sạc.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DCACC9D9-0915-46C4-3F56-E3373AD04EE3}"/>
              </a:ext>
            </a:extLst>
          </p:cNvPr>
          <p:cNvSpPr/>
          <p:nvPr/>
        </p:nvSpPr>
        <p:spPr>
          <a:xfrm>
            <a:off x="8877474" y="4667298"/>
            <a:ext cx="8212289" cy="3451042"/>
          </a:xfrm>
          <a:prstGeom prst="roundRect">
            <a:avLst/>
          </a:prstGeom>
          <a:solidFill>
            <a:srgbClr val="F2F5FA"/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AD4A03A-344F-4AD6-DA22-CD9F5AF0842D}"/>
              </a:ext>
            </a:extLst>
          </p:cNvPr>
          <p:cNvSpPr txBox="1"/>
          <p:nvPr/>
        </p:nvSpPr>
        <p:spPr>
          <a:xfrm>
            <a:off x="11569281" y="4716828"/>
            <a:ext cx="287377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Chương 5</a:t>
            </a:r>
            <a:endParaRPr lang="en-AU" sz="3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7F345FA-EE8A-54AB-3743-DA4CC56CC98A}"/>
              </a:ext>
            </a:extLst>
          </p:cNvPr>
          <p:cNvSpPr/>
          <p:nvPr/>
        </p:nvSpPr>
        <p:spPr>
          <a:xfrm>
            <a:off x="9083214" y="5270082"/>
            <a:ext cx="3858276" cy="673979"/>
          </a:xfrm>
          <a:prstGeom prst="rect">
            <a:avLst/>
          </a:prstGeom>
          <a:noFill/>
          <a:ln w="95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 định nhu cầu sạc và các vị trí đặt trạm tiềm năng.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32DD96A-BDE5-1D13-93E2-06059F6D458D}"/>
              </a:ext>
            </a:extLst>
          </p:cNvPr>
          <p:cNvSpPr/>
          <p:nvPr/>
        </p:nvSpPr>
        <p:spPr>
          <a:xfrm>
            <a:off x="9083214" y="6085828"/>
            <a:ext cx="3858276" cy="673979"/>
          </a:xfrm>
          <a:prstGeom prst="rect">
            <a:avLst/>
          </a:prstGeom>
          <a:noFill/>
          <a:ln w="95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 xuất mô hình MOMIP.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AAE1D14-D384-7CC5-E4A5-26FAEE26E284}"/>
              </a:ext>
            </a:extLst>
          </p:cNvPr>
          <p:cNvSpPr/>
          <p:nvPr/>
        </p:nvSpPr>
        <p:spPr>
          <a:xfrm>
            <a:off x="13068300" y="5270082"/>
            <a:ext cx="3858276" cy="673979"/>
          </a:xfrm>
          <a:prstGeom prst="rect">
            <a:avLst/>
          </a:prstGeom>
          <a:noFill/>
          <a:ln w="95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 dụng thuật toán Branch and Cut (CPLEX).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9E02ADD-0728-01EB-5289-2370C7D51B13}"/>
              </a:ext>
            </a:extLst>
          </p:cNvPr>
          <p:cNvSpPr/>
          <p:nvPr/>
        </p:nvSpPr>
        <p:spPr>
          <a:xfrm>
            <a:off x="13068300" y="6085828"/>
            <a:ext cx="3858276" cy="673979"/>
          </a:xfrm>
          <a:prstGeom prst="rect">
            <a:avLst/>
          </a:prstGeom>
          <a:noFill/>
          <a:ln w="95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 dụng thuật toán Hybrid BIPSO-GR (MATLAB).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235835AC-E0E2-CC60-B326-EEFACC49F853}"/>
              </a:ext>
            </a:extLst>
          </p:cNvPr>
          <p:cNvSpPr/>
          <p:nvPr/>
        </p:nvSpPr>
        <p:spPr>
          <a:xfrm rot="5400000">
            <a:off x="12757822" y="8137390"/>
            <a:ext cx="620956" cy="887724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34BA9062-5647-A7CB-C4E9-53C7013A3F3E}"/>
              </a:ext>
            </a:extLst>
          </p:cNvPr>
          <p:cNvSpPr/>
          <p:nvPr/>
        </p:nvSpPr>
        <p:spPr>
          <a:xfrm>
            <a:off x="17978921" y="6800898"/>
            <a:ext cx="8212289" cy="3451042"/>
          </a:xfrm>
          <a:prstGeom prst="roundRect">
            <a:avLst/>
          </a:prstGeom>
          <a:solidFill>
            <a:srgbClr val="F2F5FA"/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4C2D94B-B54F-2D6F-38FC-09702E8F50CD}"/>
              </a:ext>
            </a:extLst>
          </p:cNvPr>
          <p:cNvSpPr txBox="1"/>
          <p:nvPr/>
        </p:nvSpPr>
        <p:spPr>
          <a:xfrm>
            <a:off x="20670728" y="6850428"/>
            <a:ext cx="287377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Chương 4</a:t>
            </a:r>
            <a:endParaRPr lang="en-AU" sz="3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37091BA-3186-8F11-7069-D4A30F3802A3}"/>
              </a:ext>
            </a:extLst>
          </p:cNvPr>
          <p:cNvSpPr/>
          <p:nvPr/>
        </p:nvSpPr>
        <p:spPr>
          <a:xfrm>
            <a:off x="18184661" y="7403682"/>
            <a:ext cx="3858276" cy="673979"/>
          </a:xfrm>
          <a:prstGeom prst="rect">
            <a:avLst/>
          </a:prstGeom>
          <a:noFill/>
          <a:ln w="95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 định dữ liệu đầu vào cho xe điện.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CC7F148-F690-D1D2-2F5A-A5346F6F1EA0}"/>
              </a:ext>
            </a:extLst>
          </p:cNvPr>
          <p:cNvSpPr/>
          <p:nvPr/>
        </p:nvSpPr>
        <p:spPr>
          <a:xfrm>
            <a:off x="18184661" y="8219428"/>
            <a:ext cx="3858276" cy="673979"/>
          </a:xfrm>
          <a:prstGeom prst="rect">
            <a:avLst/>
          </a:prstGeom>
          <a:noFill/>
          <a:ln w="95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Kiểm định goodness of fit cho các biên đầu vào.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77423E1-3AFD-4800-5DBE-C5B104AE63A6}"/>
              </a:ext>
            </a:extLst>
          </p:cNvPr>
          <p:cNvSpPr/>
          <p:nvPr/>
        </p:nvSpPr>
        <p:spPr>
          <a:xfrm>
            <a:off x="22169747" y="7403682"/>
            <a:ext cx="3858276" cy="673979"/>
          </a:xfrm>
          <a:prstGeom prst="rect">
            <a:avLst/>
          </a:prstGeom>
          <a:noFill/>
          <a:ln w="95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Nhận định hành vi sạc và di chuyển.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FE151A2-F4FB-AAB1-0C4A-F43919CA0F99}"/>
              </a:ext>
            </a:extLst>
          </p:cNvPr>
          <p:cNvSpPr/>
          <p:nvPr/>
        </p:nvSpPr>
        <p:spPr>
          <a:xfrm>
            <a:off x="22169747" y="8219428"/>
            <a:ext cx="3858276" cy="673979"/>
          </a:xfrm>
          <a:prstGeom prst="rect">
            <a:avLst/>
          </a:prstGeom>
          <a:noFill/>
          <a:ln w="95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Kiểm tra độ tin cậy (95%CI) của hệ số SCF.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269D4C58-49CB-FB1C-EDE4-71EF90F49798}"/>
              </a:ext>
            </a:extLst>
          </p:cNvPr>
          <p:cNvSpPr/>
          <p:nvPr/>
        </p:nvSpPr>
        <p:spPr>
          <a:xfrm>
            <a:off x="8877474" y="9067848"/>
            <a:ext cx="8212289" cy="3451042"/>
          </a:xfrm>
          <a:prstGeom prst="roundRect">
            <a:avLst/>
          </a:prstGeom>
          <a:solidFill>
            <a:srgbClr val="F2F5FA"/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60DF455-5910-1481-6D90-0467C056F4DA}"/>
              </a:ext>
            </a:extLst>
          </p:cNvPr>
          <p:cNvSpPr txBox="1"/>
          <p:nvPr/>
        </p:nvSpPr>
        <p:spPr>
          <a:xfrm>
            <a:off x="11569281" y="9117378"/>
            <a:ext cx="287377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Chương 6</a:t>
            </a:r>
            <a:endParaRPr lang="en-AU" sz="3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0614FBA-C5AE-AB38-D113-D1FD29D71F8E}"/>
              </a:ext>
            </a:extLst>
          </p:cNvPr>
          <p:cNvSpPr/>
          <p:nvPr/>
        </p:nvSpPr>
        <p:spPr>
          <a:xfrm>
            <a:off x="9083214" y="9670632"/>
            <a:ext cx="3858276" cy="673979"/>
          </a:xfrm>
          <a:prstGeom prst="rect">
            <a:avLst/>
          </a:prstGeom>
          <a:noFill/>
          <a:ln w="95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 định dữ liệu các vị trí trạm sạc và dung lượng.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48E66FD-EA74-983C-CCC6-6E1EE47E211D}"/>
              </a:ext>
            </a:extLst>
          </p:cNvPr>
          <p:cNvSpPr/>
          <p:nvPr/>
        </p:nvSpPr>
        <p:spPr>
          <a:xfrm>
            <a:off x="9083214" y="10486378"/>
            <a:ext cx="3858276" cy="673979"/>
          </a:xfrm>
          <a:prstGeom prst="rect">
            <a:avLst/>
          </a:prstGeom>
          <a:noFill/>
          <a:ln w="95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 toán cung cấp điện toàn khu.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C644F21-C39E-8F27-2343-0DF4BC790964}"/>
              </a:ext>
            </a:extLst>
          </p:cNvPr>
          <p:cNvSpPr/>
          <p:nvPr/>
        </p:nvSpPr>
        <p:spPr>
          <a:xfrm>
            <a:off x="13068300" y="9670632"/>
            <a:ext cx="3858276" cy="673979"/>
          </a:xfrm>
          <a:prstGeom prst="rect">
            <a:avLst/>
          </a:prstGeom>
          <a:noFill/>
          <a:ln w="95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 dụng thuật toán Newton – Raphson (Power World).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C961726-6B26-A5BD-D140-CBE2E848AE19}"/>
              </a:ext>
            </a:extLst>
          </p:cNvPr>
          <p:cNvSpPr/>
          <p:nvPr/>
        </p:nvSpPr>
        <p:spPr>
          <a:xfrm>
            <a:off x="13068300" y="10486378"/>
            <a:ext cx="3858276" cy="673979"/>
          </a:xfrm>
          <a:prstGeom prst="rect">
            <a:avLst/>
          </a:prstGeom>
          <a:noFill/>
          <a:ln w="95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 bố công suất và tổn thất khi có EV tác động.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09A815AC-A90A-59A8-0B8F-7F0BA7EEDAB3}"/>
              </a:ext>
            </a:extLst>
          </p:cNvPr>
          <p:cNvSpPr/>
          <p:nvPr/>
        </p:nvSpPr>
        <p:spPr>
          <a:xfrm>
            <a:off x="18184661" y="9029766"/>
            <a:ext cx="3858276" cy="673979"/>
          </a:xfrm>
          <a:prstGeom prst="rect">
            <a:avLst/>
          </a:prstGeom>
          <a:noFill/>
          <a:ln w="95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 dụng mô phỏng Monte Carlo (Phần mềm MS Excel).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4F9674A-8911-E3DD-B3B0-8DE5DD7E2827}"/>
              </a:ext>
            </a:extLst>
          </p:cNvPr>
          <p:cNvSpPr/>
          <p:nvPr/>
        </p:nvSpPr>
        <p:spPr>
          <a:xfrm>
            <a:off x="22169747" y="9029766"/>
            <a:ext cx="3858276" cy="673979"/>
          </a:xfrm>
          <a:prstGeom prst="rect">
            <a:avLst/>
          </a:prstGeom>
          <a:noFill/>
          <a:ln w="95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 định hệ số sạc đồng thời của xe điện (SCF).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DD85B7B1-D8B6-D328-252E-EE5D7ADB6698}"/>
              </a:ext>
            </a:extLst>
          </p:cNvPr>
          <p:cNvSpPr/>
          <p:nvPr/>
        </p:nvSpPr>
        <p:spPr>
          <a:xfrm>
            <a:off x="3867005" y="9070888"/>
            <a:ext cx="4121311" cy="3451042"/>
          </a:xfrm>
          <a:prstGeom prst="roundRect">
            <a:avLst/>
          </a:prstGeom>
          <a:solidFill>
            <a:srgbClr val="F2F5FA"/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AEA117F-41DD-B144-0C4E-18025D689DCA}"/>
              </a:ext>
            </a:extLst>
          </p:cNvPr>
          <p:cNvSpPr txBox="1"/>
          <p:nvPr/>
        </p:nvSpPr>
        <p:spPr>
          <a:xfrm>
            <a:off x="4490774" y="9126863"/>
            <a:ext cx="287377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Chương 7</a:t>
            </a:r>
            <a:endParaRPr lang="en-AU" sz="3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47C2C342-0F77-A490-EC94-5FCD6BE6F9C8}"/>
              </a:ext>
            </a:extLst>
          </p:cNvPr>
          <p:cNvSpPr/>
          <p:nvPr/>
        </p:nvSpPr>
        <p:spPr>
          <a:xfrm>
            <a:off x="3987800" y="9673671"/>
            <a:ext cx="3858276" cy="673979"/>
          </a:xfrm>
          <a:prstGeom prst="rect">
            <a:avLst/>
          </a:prstGeom>
          <a:noFill/>
          <a:ln w="95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 luận đề tài.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71ED828-1B32-CBE6-FF5F-30C3B0BCD12A}"/>
              </a:ext>
            </a:extLst>
          </p:cNvPr>
          <p:cNvSpPr/>
          <p:nvPr/>
        </p:nvSpPr>
        <p:spPr>
          <a:xfrm>
            <a:off x="3987800" y="10489417"/>
            <a:ext cx="3858276" cy="673979"/>
          </a:xfrm>
          <a:prstGeom prst="rect">
            <a:avLst/>
          </a:prstGeom>
          <a:noFill/>
          <a:ln w="95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 định các giới hạn.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19765992-DF45-B16C-5EAF-9FF8D27E994D}"/>
              </a:ext>
            </a:extLst>
          </p:cNvPr>
          <p:cNvSpPr/>
          <p:nvPr/>
        </p:nvSpPr>
        <p:spPr>
          <a:xfrm>
            <a:off x="3987800" y="11289127"/>
            <a:ext cx="3858276" cy="673979"/>
          </a:xfrm>
          <a:prstGeom prst="rect">
            <a:avLst/>
          </a:prstGeom>
          <a:noFill/>
          <a:ln w="95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 xuất hướng nghiên cứu tiếp theo.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Arrow: Right 81">
            <a:extLst>
              <a:ext uri="{FF2B5EF4-FFF2-40B4-BE49-F238E27FC236}">
                <a16:creationId xmlns:a16="http://schemas.microsoft.com/office/drawing/2014/main" id="{025A9B17-C375-CCB6-0D71-E8A73D63D1CD}"/>
              </a:ext>
            </a:extLst>
          </p:cNvPr>
          <p:cNvSpPr/>
          <p:nvPr/>
        </p:nvSpPr>
        <p:spPr>
          <a:xfrm rot="10800000">
            <a:off x="17200253" y="8219428"/>
            <a:ext cx="620956" cy="887724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83" name="Arrow: Right 82">
            <a:extLst>
              <a:ext uri="{FF2B5EF4-FFF2-40B4-BE49-F238E27FC236}">
                <a16:creationId xmlns:a16="http://schemas.microsoft.com/office/drawing/2014/main" id="{DF829A12-434E-C0E5-1A7F-9CB26F5F7ED7}"/>
              </a:ext>
            </a:extLst>
          </p:cNvPr>
          <p:cNvSpPr/>
          <p:nvPr/>
        </p:nvSpPr>
        <p:spPr>
          <a:xfrm rot="5400000">
            <a:off x="22109180" y="5254336"/>
            <a:ext cx="620956" cy="887724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85" name="Arrow: Right 84">
            <a:extLst>
              <a:ext uri="{FF2B5EF4-FFF2-40B4-BE49-F238E27FC236}">
                <a16:creationId xmlns:a16="http://schemas.microsoft.com/office/drawing/2014/main" id="{0E9A0432-3A17-7EED-17EB-79F03CF23972}"/>
              </a:ext>
            </a:extLst>
          </p:cNvPr>
          <p:cNvSpPr/>
          <p:nvPr/>
        </p:nvSpPr>
        <p:spPr>
          <a:xfrm rot="10800000">
            <a:off x="8088375" y="10401403"/>
            <a:ext cx="620956" cy="887724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11F45559-FB9E-EF3B-CE8E-718CA72E00CA}"/>
              </a:ext>
            </a:extLst>
          </p:cNvPr>
          <p:cNvSpPr/>
          <p:nvPr/>
        </p:nvSpPr>
        <p:spPr>
          <a:xfrm>
            <a:off x="9083214" y="6941702"/>
            <a:ext cx="3858276" cy="673979"/>
          </a:xfrm>
          <a:prstGeom prst="rect">
            <a:avLst/>
          </a:prstGeom>
          <a:noFill/>
          <a:ln w="95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 định hàm mục tiêu và các ràng buộc.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3C8AA2F-F173-44EC-E8B6-27269CC57773}"/>
              </a:ext>
            </a:extLst>
          </p:cNvPr>
          <p:cNvSpPr/>
          <p:nvPr/>
        </p:nvSpPr>
        <p:spPr>
          <a:xfrm>
            <a:off x="13068300" y="6941702"/>
            <a:ext cx="3858276" cy="673979"/>
          </a:xfrm>
          <a:prstGeom prst="rect">
            <a:avLst/>
          </a:prstGeom>
          <a:noFill/>
          <a:ln w="95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 xuất lai 2 thuật toán.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A7A552C1-78A5-5961-F599-D2CE262540B6}"/>
              </a:ext>
            </a:extLst>
          </p:cNvPr>
          <p:cNvSpPr/>
          <p:nvPr/>
        </p:nvSpPr>
        <p:spPr>
          <a:xfrm>
            <a:off x="9083214" y="11302124"/>
            <a:ext cx="3858276" cy="673979"/>
          </a:xfrm>
          <a:prstGeom prst="rect">
            <a:avLst/>
          </a:prstGeom>
          <a:noFill/>
          <a:ln w="95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 định cấu hình lưới điện và các điểm đấu nối.</a:t>
            </a:r>
          </a:p>
        </p:txBody>
      </p:sp>
    </p:spTree>
    <p:extLst>
      <p:ext uri="{BB962C8B-B14F-4D97-AF65-F5344CB8AC3E}">
        <p14:creationId xmlns:p14="http://schemas.microsoft.com/office/powerpoint/2010/main" val="714389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3913729-9D66-EE49-AD63-D27C11C6CF27}"/>
              </a:ext>
            </a:extLst>
          </p:cNvPr>
          <p:cNvSpPr/>
          <p:nvPr/>
        </p:nvSpPr>
        <p:spPr>
          <a:xfrm>
            <a:off x="9188450" y="4006851"/>
            <a:ext cx="9785189" cy="16256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lowchart: Terminator 2">
            <a:extLst>
              <a:ext uri="{FF2B5EF4-FFF2-40B4-BE49-F238E27FC236}">
                <a16:creationId xmlns:a16="http://schemas.microsoft.com/office/drawing/2014/main" id="{5B369051-24C4-C5F1-02F7-09B540C80F32}"/>
              </a:ext>
            </a:extLst>
          </p:cNvPr>
          <p:cNvSpPr/>
          <p:nvPr/>
        </p:nvSpPr>
        <p:spPr>
          <a:xfrm>
            <a:off x="13496764" y="3121462"/>
            <a:ext cx="1168560" cy="470738"/>
          </a:xfrm>
          <a:prstGeom prst="flowChartTerminator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(1).</a:t>
            </a:r>
          </a:p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Bắt đầu</a:t>
            </a:r>
            <a:endParaRPr lang="en-AU" sz="17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EDD7DB-4823-01B9-03BF-4D27AC2A2588}"/>
              </a:ext>
            </a:extLst>
          </p:cNvPr>
          <p:cNvSpPr/>
          <p:nvPr/>
        </p:nvSpPr>
        <p:spPr>
          <a:xfrm>
            <a:off x="9912350" y="4660900"/>
            <a:ext cx="2349500" cy="863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 tham số:</a:t>
            </a:r>
          </a:p>
          <a:p>
            <a:pPr algn="ctr"/>
            <a:endParaRPr lang="en-US" sz="17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AU" sz="17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13DD9623-904F-7740-2B1C-51E426BA31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3008663"/>
              </p:ext>
            </p:extLst>
          </p:nvPr>
        </p:nvGraphicFramePr>
        <p:xfrm>
          <a:off x="10102849" y="4953290"/>
          <a:ext cx="1968179" cy="2854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63560" imgH="241200" progId="Equation.DSMT4">
                  <p:embed/>
                </p:oleObj>
              </mc:Choice>
              <mc:Fallback>
                <p:oleObj name="Equation" r:id="rId2" imgW="166356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102849" y="4953290"/>
                        <a:ext cx="1968179" cy="2854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52C6E464-CB20-2622-828A-5AEA30F593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3641553"/>
              </p:ext>
            </p:extLst>
          </p:nvPr>
        </p:nvGraphicFramePr>
        <p:xfrm>
          <a:off x="10128250" y="5197191"/>
          <a:ext cx="1942778" cy="2447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12800" imgH="203040" progId="Equation.DSMT4">
                  <p:embed/>
                </p:oleObj>
              </mc:Choice>
              <mc:Fallback>
                <p:oleObj name="Equation" r:id="rId4" imgW="1612800" imgH="20304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13DD9623-904F-7740-2B1C-51E426BA31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128250" y="5197191"/>
                        <a:ext cx="1942778" cy="2447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8B64A06A-B0D8-3883-0B50-2D13EC79676B}"/>
              </a:ext>
            </a:extLst>
          </p:cNvPr>
          <p:cNvSpPr/>
          <p:nvPr/>
        </p:nvSpPr>
        <p:spPr>
          <a:xfrm>
            <a:off x="12315745" y="4660900"/>
            <a:ext cx="1663700" cy="863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Giới hạn trụ tại từng trạm</a:t>
            </a:r>
          </a:p>
          <a:p>
            <a:pPr algn="ctr"/>
            <a:endParaRPr lang="en-AU" sz="17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B354615D-D4C3-EF5D-C6FE-36BE100829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6279300"/>
              </p:ext>
            </p:extLst>
          </p:nvPr>
        </p:nvGraphicFramePr>
        <p:xfrm>
          <a:off x="12893594" y="5163026"/>
          <a:ext cx="676275" cy="3043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07960" imgH="228600" progId="Equation.DSMT4">
                  <p:embed/>
                </p:oleObj>
              </mc:Choice>
              <mc:Fallback>
                <p:oleObj name="Equation" r:id="rId6" imgW="5079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2893594" y="5163026"/>
                        <a:ext cx="676275" cy="3043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52FB0DED-F7CE-34F0-D057-D917DE83E17D}"/>
              </a:ext>
            </a:extLst>
          </p:cNvPr>
          <p:cNvSpPr/>
          <p:nvPr/>
        </p:nvSpPr>
        <p:spPr>
          <a:xfrm>
            <a:off x="14465140" y="4660900"/>
            <a:ext cx="1663700" cy="863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 trận khoảng cách</a:t>
            </a:r>
          </a:p>
          <a:p>
            <a:pPr algn="ctr"/>
            <a:endParaRPr lang="en-AU" sz="17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350754AC-6D84-3287-CACF-BF90949C1E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4601253"/>
              </p:ext>
            </p:extLst>
          </p:nvPr>
        </p:nvGraphicFramePr>
        <p:xfrm>
          <a:off x="14865189" y="5238750"/>
          <a:ext cx="860345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58720" imgH="203040" progId="Equation.DSMT4">
                  <p:embed/>
                </p:oleObj>
              </mc:Choice>
              <mc:Fallback>
                <p:oleObj name="Equation" r:id="rId8" imgW="5587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4865189" y="5238750"/>
                        <a:ext cx="860345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F4352642-80B2-B39B-7949-AB7DFAE76869}"/>
              </a:ext>
            </a:extLst>
          </p:cNvPr>
          <p:cNvSpPr/>
          <p:nvPr/>
        </p:nvSpPr>
        <p:spPr>
          <a:xfrm>
            <a:off x="16614535" y="4660900"/>
            <a:ext cx="1663700" cy="863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Điểm nhu cầu sạc</a:t>
            </a:r>
          </a:p>
          <a:p>
            <a:pPr algn="ctr"/>
            <a:endParaRPr lang="en-AU" sz="17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F8DBDDC0-8299-E305-EC9D-57B7612C4B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2131668"/>
              </p:ext>
            </p:extLst>
          </p:nvPr>
        </p:nvGraphicFramePr>
        <p:xfrm>
          <a:off x="17274934" y="5145752"/>
          <a:ext cx="289165" cy="3469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0440" imgH="228600" progId="Equation.DSMT4">
                  <p:embed/>
                </p:oleObj>
              </mc:Choice>
              <mc:Fallback>
                <p:oleObj name="Equation" r:id="rId10" imgW="1904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7274934" y="5145752"/>
                        <a:ext cx="289165" cy="3469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2AB3C0A0-0684-DE6E-79BC-540ABCB6AC29}"/>
              </a:ext>
            </a:extLst>
          </p:cNvPr>
          <p:cNvSpPr txBox="1"/>
          <p:nvPr/>
        </p:nvSpPr>
        <p:spPr>
          <a:xfrm>
            <a:off x="13150850" y="4085910"/>
            <a:ext cx="234315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>
                <a:latin typeface="Arial" panose="020B0604020202020204" pitchFamily="34" charset="0"/>
                <a:cs typeface="Arial" panose="020B0604020202020204" pitchFamily="34" charset="0"/>
              </a:rPr>
              <a:t>(2).</a:t>
            </a:r>
          </a:p>
          <a:p>
            <a:pPr algn="ctr"/>
            <a:r>
              <a:rPr lang="en-US" sz="1700">
                <a:latin typeface="Arial" panose="020B0604020202020204" pitchFamily="34" charset="0"/>
                <a:cs typeface="Arial" panose="020B0604020202020204" pitchFamily="34" charset="0"/>
              </a:rPr>
              <a:t>Dữ liệu đầu vào</a:t>
            </a:r>
            <a:endParaRPr lang="en-AU" sz="1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EC7F276-5B12-0880-A4C7-58CE40F53B5B}"/>
              </a:ext>
            </a:extLst>
          </p:cNvPr>
          <p:cNvSpPr/>
          <p:nvPr/>
        </p:nvSpPr>
        <p:spPr>
          <a:xfrm>
            <a:off x="13769266" y="6033771"/>
            <a:ext cx="5204374" cy="601599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9832CF-4178-C5F6-B56E-B5820EF2D255}"/>
              </a:ext>
            </a:extLst>
          </p:cNvPr>
          <p:cNvSpPr txBox="1"/>
          <p:nvPr/>
        </p:nvSpPr>
        <p:spPr>
          <a:xfrm>
            <a:off x="13931740" y="6159505"/>
            <a:ext cx="419633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>
                <a:latin typeface="Arial" panose="020B0604020202020204" pitchFamily="34" charset="0"/>
                <a:cs typeface="Arial" panose="020B0604020202020204" pitchFamily="34" charset="0"/>
              </a:rPr>
              <a:t>(4).</a:t>
            </a:r>
          </a:p>
          <a:p>
            <a:pPr algn="ctr"/>
            <a:r>
              <a:rPr lang="en-US" sz="1700">
                <a:latin typeface="Arial" panose="020B0604020202020204" pitchFamily="34" charset="0"/>
                <a:cs typeface="Arial" panose="020B0604020202020204" pitchFamily="34" charset="0"/>
              </a:rPr>
              <a:t>Giai đoạn 2 – Thuật toán Branch and Cut</a:t>
            </a:r>
            <a:endParaRPr lang="en-AU" sz="1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D01EE53-02B2-17DD-0C1A-3895557197FA}"/>
              </a:ext>
            </a:extLst>
          </p:cNvPr>
          <p:cNvSpPr/>
          <p:nvPr/>
        </p:nvSpPr>
        <p:spPr>
          <a:xfrm>
            <a:off x="13906110" y="6811649"/>
            <a:ext cx="4800989" cy="4924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Thiết lập Branch and Cut</a:t>
            </a:r>
            <a:endParaRPr lang="en-AU" sz="17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7E75EA8F-DF0F-D72A-C7DD-5406C0C5CBBB}"/>
              </a:ext>
            </a:extLst>
          </p:cNvPr>
          <p:cNvSpPr/>
          <p:nvPr/>
        </p:nvSpPr>
        <p:spPr>
          <a:xfrm>
            <a:off x="9188453" y="6033770"/>
            <a:ext cx="4121311" cy="601599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49A886B-0849-5D47-5045-F7882A542D04}"/>
              </a:ext>
            </a:extLst>
          </p:cNvPr>
          <p:cNvSpPr txBox="1"/>
          <p:nvPr/>
        </p:nvSpPr>
        <p:spPr>
          <a:xfrm>
            <a:off x="9220282" y="6141562"/>
            <a:ext cx="398763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>
                <a:latin typeface="Arial" panose="020B0604020202020204" pitchFamily="34" charset="0"/>
                <a:cs typeface="Arial" panose="020B0604020202020204" pitchFamily="34" charset="0"/>
              </a:rPr>
              <a:t>(3).</a:t>
            </a:r>
          </a:p>
          <a:p>
            <a:pPr algn="ctr"/>
            <a:r>
              <a:rPr lang="en-US" sz="1700">
                <a:latin typeface="Arial" panose="020B0604020202020204" pitchFamily="34" charset="0"/>
                <a:cs typeface="Arial" panose="020B0604020202020204" pitchFamily="34" charset="0"/>
              </a:rPr>
              <a:t>Giai đoạn 1 – Thuật toán HBIPSO-GR</a:t>
            </a:r>
            <a:endParaRPr lang="en-AU" sz="1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F7319EE-7730-C3BA-74B9-D0B1182D4CC5}"/>
              </a:ext>
            </a:extLst>
          </p:cNvPr>
          <p:cNvSpPr/>
          <p:nvPr/>
        </p:nvSpPr>
        <p:spPr>
          <a:xfrm>
            <a:off x="9615212" y="7592220"/>
            <a:ext cx="3317474" cy="4924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Khởi tạo quần thể</a:t>
            </a:r>
          </a:p>
          <a:p>
            <a:pPr algn="ctr"/>
            <a:r>
              <a:rPr lang="en-AU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(CSP: z, số trụ: y)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3A53A45-EC3A-80D5-2682-699DB715AAB2}"/>
              </a:ext>
            </a:extLst>
          </p:cNvPr>
          <p:cNvSpPr/>
          <p:nvPr/>
        </p:nvSpPr>
        <p:spPr>
          <a:xfrm>
            <a:off x="9615212" y="8382503"/>
            <a:ext cx="3317475" cy="4924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Đánh giá + Greedy Repair</a:t>
            </a:r>
          </a:p>
          <a:p>
            <a:pPr algn="ctr"/>
            <a:r>
              <a:rPr lang="en-AU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, F1, F2, F3</a:t>
            </a:r>
          </a:p>
        </p:txBody>
      </p:sp>
      <p:graphicFrame>
        <p:nvGraphicFramePr>
          <p:cNvPr id="40" name="Object 39">
            <a:extLst>
              <a:ext uri="{FF2B5EF4-FFF2-40B4-BE49-F238E27FC236}">
                <a16:creationId xmlns:a16="http://schemas.microsoft.com/office/drawing/2014/main" id="{63AD4991-3509-D7F6-B38C-9F5109133F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9901326"/>
              </p:ext>
            </p:extLst>
          </p:nvPr>
        </p:nvGraphicFramePr>
        <p:xfrm>
          <a:off x="10588636" y="8596754"/>
          <a:ext cx="527120" cy="263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06080" imgH="203040" progId="Equation.DSMT4">
                  <p:embed/>
                </p:oleObj>
              </mc:Choice>
              <mc:Fallback>
                <p:oleObj name="Equation" r:id="rId12" imgW="406080" imgH="203040" progId="Equation.DSMT4">
                  <p:embed/>
                  <p:pic>
                    <p:nvPicPr>
                      <p:cNvPr id="20" name="Object 19">
                        <a:extLst>
                          <a:ext uri="{FF2B5EF4-FFF2-40B4-BE49-F238E27FC236}">
                            <a16:creationId xmlns:a16="http://schemas.microsoft.com/office/drawing/2014/main" id="{0A56A293-6680-86E4-3AB9-F235E4CB61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0588636" y="8596754"/>
                        <a:ext cx="527120" cy="2635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ECDD8E4-C9F3-5D43-0943-79DAE33CE56A}"/>
              </a:ext>
            </a:extLst>
          </p:cNvPr>
          <p:cNvCxnSpPr>
            <a:cxnSpLocks/>
          </p:cNvCxnSpPr>
          <p:nvPr/>
        </p:nvCxnSpPr>
        <p:spPr>
          <a:xfrm>
            <a:off x="10281456" y="8720613"/>
            <a:ext cx="307180" cy="0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6BFE01AC-E0BB-A9E4-2F1A-DE8DE13AF604}"/>
              </a:ext>
            </a:extLst>
          </p:cNvPr>
          <p:cNvSpPr/>
          <p:nvPr/>
        </p:nvSpPr>
        <p:spPr>
          <a:xfrm>
            <a:off x="9615211" y="9153369"/>
            <a:ext cx="3317475" cy="4924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Cập nhật PSO</a:t>
            </a:r>
          </a:p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(pbest/gbest)</a:t>
            </a:r>
            <a:endParaRPr lang="en-AU" sz="17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Diamond 42">
            <a:extLst>
              <a:ext uri="{FF2B5EF4-FFF2-40B4-BE49-F238E27FC236}">
                <a16:creationId xmlns:a16="http://schemas.microsoft.com/office/drawing/2014/main" id="{2BFF7104-2D1B-F70C-97B1-587165F3DDD0}"/>
              </a:ext>
            </a:extLst>
          </p:cNvPr>
          <p:cNvSpPr/>
          <p:nvPr/>
        </p:nvSpPr>
        <p:spPr>
          <a:xfrm>
            <a:off x="9615211" y="10121900"/>
            <a:ext cx="3317475" cy="883920"/>
          </a:xfrm>
          <a:prstGeom prst="diamond">
            <a:avLst/>
          </a:prstGeom>
          <a:solidFill>
            <a:schemeClr val="accent4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Thỏa mãn số vòng lặp?</a:t>
            </a:r>
            <a:endParaRPr lang="en-AU" sz="17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5FD9D0B4-06AE-B39F-C965-0D008B4E30A5}"/>
              </a:ext>
            </a:extLst>
          </p:cNvPr>
          <p:cNvCxnSpPr>
            <a:cxnSpLocks/>
            <a:stCxn id="43" idx="3"/>
            <a:endCxn id="39" idx="3"/>
          </p:cNvCxnSpPr>
          <p:nvPr/>
        </p:nvCxnSpPr>
        <p:spPr>
          <a:xfrm flipV="1">
            <a:off x="12932686" y="8628725"/>
            <a:ext cx="1" cy="1935135"/>
          </a:xfrm>
          <a:prstGeom prst="bentConnector3">
            <a:avLst>
              <a:gd name="adj1" fmla="val 22860100000"/>
            </a:avLst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BE91753-82DD-46DD-54AC-D1B7D6FC3510}"/>
              </a:ext>
            </a:extLst>
          </p:cNvPr>
          <p:cNvCxnSpPr>
            <a:cxnSpLocks/>
            <a:stCxn id="42" idx="2"/>
            <a:endCxn id="43" idx="0"/>
          </p:cNvCxnSpPr>
          <p:nvPr/>
        </p:nvCxnSpPr>
        <p:spPr>
          <a:xfrm>
            <a:off x="11273949" y="9645812"/>
            <a:ext cx="0" cy="4760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D7E65D3D-6416-DBBE-C88A-BF5CB25D7F9A}"/>
              </a:ext>
            </a:extLst>
          </p:cNvPr>
          <p:cNvSpPr/>
          <p:nvPr/>
        </p:nvSpPr>
        <p:spPr>
          <a:xfrm>
            <a:off x="9615212" y="6811647"/>
            <a:ext cx="3317474" cy="4924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Thiết lập PSO</a:t>
            </a:r>
            <a:endParaRPr lang="en-AU" sz="17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7B8E4DC-898E-E293-E073-0BAF2961AC4A}"/>
              </a:ext>
            </a:extLst>
          </p:cNvPr>
          <p:cNvSpPr txBox="1"/>
          <p:nvPr/>
        </p:nvSpPr>
        <p:spPr>
          <a:xfrm>
            <a:off x="11214101" y="9988936"/>
            <a:ext cx="287377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>
                <a:latin typeface="Arial" panose="020B0604020202020204" pitchFamily="34" charset="0"/>
                <a:cs typeface="Arial" panose="020B0604020202020204" pitchFamily="34" charset="0"/>
              </a:rPr>
              <a:t>Không đạt</a:t>
            </a:r>
            <a:endParaRPr lang="en-AU" sz="1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4B7E056-A98D-278F-444C-6D0F7107522A}"/>
              </a:ext>
            </a:extLst>
          </p:cNvPr>
          <p:cNvSpPr/>
          <p:nvPr/>
        </p:nvSpPr>
        <p:spPr>
          <a:xfrm>
            <a:off x="9615211" y="11378343"/>
            <a:ext cx="3317475" cy="4924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Nghiệm hạt giống</a:t>
            </a:r>
          </a:p>
          <a:p>
            <a:pPr algn="ctr"/>
            <a:endParaRPr lang="en-AU" sz="17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5F1F72E-86F5-C4A1-5A8B-619F573A20E9}"/>
              </a:ext>
            </a:extLst>
          </p:cNvPr>
          <p:cNvSpPr txBox="1"/>
          <p:nvPr/>
        </p:nvSpPr>
        <p:spPr>
          <a:xfrm>
            <a:off x="10041974" y="11021154"/>
            <a:ext cx="287377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>
                <a:latin typeface="Arial" panose="020B0604020202020204" pitchFamily="34" charset="0"/>
                <a:cs typeface="Arial" panose="020B0604020202020204" pitchFamily="34" charset="0"/>
              </a:rPr>
              <a:t>Đạt</a:t>
            </a:r>
            <a:endParaRPr lang="en-AU" sz="1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901C3AF-3E18-B2AB-6B71-48E56FAA9F19}"/>
              </a:ext>
            </a:extLst>
          </p:cNvPr>
          <p:cNvCxnSpPr>
            <a:cxnSpLocks/>
            <a:stCxn id="43" idx="2"/>
            <a:endCxn id="49" idx="0"/>
          </p:cNvCxnSpPr>
          <p:nvPr/>
        </p:nvCxnSpPr>
        <p:spPr>
          <a:xfrm>
            <a:off x="11273949" y="11005820"/>
            <a:ext cx="0" cy="3725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18F9BF15-592F-CFB5-3208-A52DD8E96CC2}"/>
              </a:ext>
            </a:extLst>
          </p:cNvPr>
          <p:cNvCxnSpPr>
            <a:cxnSpLocks/>
            <a:stCxn id="4" idx="2"/>
            <a:endCxn id="36" idx="0"/>
          </p:cNvCxnSpPr>
          <p:nvPr/>
        </p:nvCxnSpPr>
        <p:spPr>
          <a:xfrm rot="16200000" flipH="1">
            <a:off x="10913469" y="5698130"/>
            <a:ext cx="509270" cy="162009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A20B93D7-09CA-1130-EC01-E09AC341ED5C}"/>
              </a:ext>
            </a:extLst>
          </p:cNvPr>
          <p:cNvCxnSpPr>
            <a:stCxn id="7" idx="2"/>
            <a:endCxn id="36" idx="0"/>
          </p:cNvCxnSpPr>
          <p:nvPr/>
        </p:nvCxnSpPr>
        <p:spPr>
          <a:xfrm rot="5400000">
            <a:off x="11943717" y="4829892"/>
            <a:ext cx="509270" cy="1898486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7E13974A-927E-FC7D-7452-831F22795EF9}"/>
              </a:ext>
            </a:extLst>
          </p:cNvPr>
          <p:cNvCxnSpPr>
            <a:stCxn id="9" idx="2"/>
            <a:endCxn id="36" idx="0"/>
          </p:cNvCxnSpPr>
          <p:nvPr/>
        </p:nvCxnSpPr>
        <p:spPr>
          <a:xfrm rot="5400000">
            <a:off x="13018415" y="3755195"/>
            <a:ext cx="509270" cy="4047881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62601A5D-BBC7-4C1E-5D8F-29CAF2770D8B}"/>
              </a:ext>
            </a:extLst>
          </p:cNvPr>
          <p:cNvCxnSpPr>
            <a:stCxn id="11" idx="2"/>
            <a:endCxn id="36" idx="0"/>
          </p:cNvCxnSpPr>
          <p:nvPr/>
        </p:nvCxnSpPr>
        <p:spPr>
          <a:xfrm rot="5400000">
            <a:off x="14093112" y="2680497"/>
            <a:ext cx="509270" cy="6197276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1" name="Object 60">
            <a:extLst>
              <a:ext uri="{FF2B5EF4-FFF2-40B4-BE49-F238E27FC236}">
                <a16:creationId xmlns:a16="http://schemas.microsoft.com/office/drawing/2014/main" id="{4A88CAB1-0A18-77D6-BFAA-40A513F571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8666954"/>
              </p:ext>
            </p:extLst>
          </p:nvPr>
        </p:nvGraphicFramePr>
        <p:xfrm>
          <a:off x="10728404" y="11607892"/>
          <a:ext cx="1167529" cy="25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41120" imgH="228600" progId="Equation.DSMT4">
                  <p:embed/>
                </p:oleObj>
              </mc:Choice>
              <mc:Fallback>
                <p:oleObj name="Equation" r:id="rId14" imgW="10411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0728404" y="11607892"/>
                        <a:ext cx="1167529" cy="2562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6DE32604-D2EE-9A9D-47A3-9F0792F68303}"/>
              </a:ext>
            </a:extLst>
          </p:cNvPr>
          <p:cNvCxnSpPr>
            <a:cxnSpLocks/>
            <a:stCxn id="33" idx="2"/>
            <a:endCxn id="85" idx="0"/>
          </p:cNvCxnSpPr>
          <p:nvPr/>
        </p:nvCxnSpPr>
        <p:spPr>
          <a:xfrm flipH="1">
            <a:off x="16306604" y="7304092"/>
            <a:ext cx="1" cy="27383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B118C25E-F9BB-DD55-F243-48B85668973D}"/>
              </a:ext>
            </a:extLst>
          </p:cNvPr>
          <p:cNvCxnSpPr>
            <a:cxnSpLocks/>
            <a:stCxn id="49" idx="3"/>
            <a:endCxn id="85" idx="2"/>
          </p:cNvCxnSpPr>
          <p:nvPr/>
        </p:nvCxnSpPr>
        <p:spPr>
          <a:xfrm flipV="1">
            <a:off x="12932686" y="7760810"/>
            <a:ext cx="3191038" cy="3863755"/>
          </a:xfrm>
          <a:prstGeom prst="bentConnector3">
            <a:avLst>
              <a:gd name="adj1" fmla="val 20449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Flowchart: Summing Junction 84">
            <a:extLst>
              <a:ext uri="{FF2B5EF4-FFF2-40B4-BE49-F238E27FC236}">
                <a16:creationId xmlns:a16="http://schemas.microsoft.com/office/drawing/2014/main" id="{0DFA674A-6ECB-EF4A-2843-C8C209A149DD}"/>
              </a:ext>
            </a:extLst>
          </p:cNvPr>
          <p:cNvSpPr/>
          <p:nvPr/>
        </p:nvSpPr>
        <p:spPr>
          <a:xfrm>
            <a:off x="16123724" y="7577930"/>
            <a:ext cx="365760" cy="365760"/>
          </a:xfrm>
          <a:prstGeom prst="flowChartSummingJunction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F2847865-72F3-10CE-CC63-6C52FEA783D8}"/>
              </a:ext>
            </a:extLst>
          </p:cNvPr>
          <p:cNvSpPr/>
          <p:nvPr/>
        </p:nvSpPr>
        <p:spPr>
          <a:xfrm>
            <a:off x="13906110" y="8372791"/>
            <a:ext cx="2336432" cy="18995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Chế độ A </a:t>
            </a:r>
          </a:p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(cố định CSP)</a:t>
            </a:r>
          </a:p>
          <a:p>
            <a:pPr algn="ctr"/>
            <a:endParaRPr lang="en-US" sz="17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7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endParaRPr lang="en-US" sz="17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AU" sz="17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F81596A2-15D8-8EBB-5E10-1CEFF92853B9}"/>
              </a:ext>
            </a:extLst>
          </p:cNvPr>
          <p:cNvSpPr/>
          <p:nvPr/>
        </p:nvSpPr>
        <p:spPr>
          <a:xfrm>
            <a:off x="16425422" y="8372792"/>
            <a:ext cx="2281677" cy="189957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Chế độ B </a:t>
            </a:r>
          </a:p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(không cố định CSP)</a:t>
            </a:r>
          </a:p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MIP bắt đầu giải từ nghiệm hạt giống</a:t>
            </a:r>
          </a:p>
          <a:p>
            <a:pPr algn="ctr"/>
            <a:endParaRPr lang="en-US" sz="17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7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AU" sz="17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8084340C-FB93-2F9F-7541-4552D78C0CEC}"/>
              </a:ext>
            </a:extLst>
          </p:cNvPr>
          <p:cNvCxnSpPr>
            <a:cxnSpLocks/>
            <a:stCxn id="85" idx="4"/>
            <a:endCxn id="90" idx="0"/>
          </p:cNvCxnSpPr>
          <p:nvPr/>
        </p:nvCxnSpPr>
        <p:spPr>
          <a:xfrm rot="5400000">
            <a:off x="15475915" y="7542101"/>
            <a:ext cx="429101" cy="1232278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: Elbow 94">
            <a:extLst>
              <a:ext uri="{FF2B5EF4-FFF2-40B4-BE49-F238E27FC236}">
                <a16:creationId xmlns:a16="http://schemas.microsoft.com/office/drawing/2014/main" id="{ACDD42D3-37CB-E074-A881-6C8635C28C41}"/>
              </a:ext>
            </a:extLst>
          </p:cNvPr>
          <p:cNvCxnSpPr>
            <a:cxnSpLocks/>
            <a:stCxn id="85" idx="4"/>
            <a:endCxn id="91" idx="0"/>
          </p:cNvCxnSpPr>
          <p:nvPr/>
        </p:nvCxnSpPr>
        <p:spPr>
          <a:xfrm rot="16200000" flipH="1">
            <a:off x="16721881" y="7528412"/>
            <a:ext cx="429102" cy="1259657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4" name="Object 103">
            <a:extLst>
              <a:ext uri="{FF2B5EF4-FFF2-40B4-BE49-F238E27FC236}">
                <a16:creationId xmlns:a16="http://schemas.microsoft.com/office/drawing/2014/main" id="{98B71FA2-E27B-F437-3062-0ED147C018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8792746"/>
              </p:ext>
            </p:extLst>
          </p:nvPr>
        </p:nvGraphicFramePr>
        <p:xfrm>
          <a:off x="14488711" y="9193705"/>
          <a:ext cx="1155634" cy="2699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812520" imgH="190440" progId="Equation.DSMT4">
                  <p:embed/>
                </p:oleObj>
              </mc:Choice>
              <mc:Fallback>
                <p:oleObj name="Equation" r:id="rId16" imgW="812520" imgH="190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4488711" y="9193705"/>
                        <a:ext cx="1155634" cy="2699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" name="Object 104">
            <a:extLst>
              <a:ext uri="{FF2B5EF4-FFF2-40B4-BE49-F238E27FC236}">
                <a16:creationId xmlns:a16="http://schemas.microsoft.com/office/drawing/2014/main" id="{05CC924D-9A0E-E4F0-B4DF-AE2BD9C3D8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5252499"/>
              </p:ext>
            </p:extLst>
          </p:nvPr>
        </p:nvGraphicFramePr>
        <p:xfrm>
          <a:off x="14309287" y="9420141"/>
          <a:ext cx="1486076" cy="3074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104840" imgH="228600" progId="Equation.DSMT4">
                  <p:embed/>
                </p:oleObj>
              </mc:Choice>
              <mc:Fallback>
                <p:oleObj name="Equation" r:id="rId18" imgW="11048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4309287" y="9420141"/>
                        <a:ext cx="1486076" cy="3074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" name="Object 106">
            <a:extLst>
              <a:ext uri="{FF2B5EF4-FFF2-40B4-BE49-F238E27FC236}">
                <a16:creationId xmlns:a16="http://schemas.microsoft.com/office/drawing/2014/main" id="{DC3F84B7-1F1B-14EC-5758-AA17D3E9C9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969247"/>
              </p:ext>
            </p:extLst>
          </p:nvPr>
        </p:nvGraphicFramePr>
        <p:xfrm>
          <a:off x="16889984" y="9453721"/>
          <a:ext cx="1349273" cy="279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105048" imgH="228567" progId="Equation.DSMT4">
                  <p:embed/>
                </p:oleObj>
              </mc:Choice>
              <mc:Fallback>
                <p:oleObj name="Equation" r:id="rId20" imgW="1105048" imgH="228567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6889984" y="9453721"/>
                        <a:ext cx="1349273" cy="2791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" name="TextBox 107">
            <a:extLst>
              <a:ext uri="{FF2B5EF4-FFF2-40B4-BE49-F238E27FC236}">
                <a16:creationId xmlns:a16="http://schemas.microsoft.com/office/drawing/2014/main" id="{8B5B0C75-90CB-43AA-5114-9423BC40C10A}"/>
              </a:ext>
            </a:extLst>
          </p:cNvPr>
          <p:cNvSpPr txBox="1"/>
          <p:nvPr/>
        </p:nvSpPr>
        <p:spPr>
          <a:xfrm>
            <a:off x="16379386" y="9662749"/>
            <a:ext cx="243044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>
                <a:latin typeface="Arial" panose="020B0604020202020204" pitchFamily="34" charset="0"/>
                <a:cs typeface="Arial" panose="020B0604020202020204" pitchFamily="34" charset="0"/>
              </a:rPr>
              <a:t>+ chi phí mở trạm</a:t>
            </a:r>
          </a:p>
          <a:p>
            <a:r>
              <a:rPr lang="en-US" sz="1700">
                <a:latin typeface="Arial" panose="020B0604020202020204" pitchFamily="34" charset="0"/>
                <a:cs typeface="Arial" panose="020B0604020202020204" pitchFamily="34" charset="0"/>
              </a:rPr>
              <a:t>Có thể đóng bớt trạm</a:t>
            </a:r>
            <a:endParaRPr lang="en-AU" sz="1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C91DAF10-2D9F-E0DB-0B86-46C7DAE353A1}"/>
              </a:ext>
            </a:extLst>
          </p:cNvPr>
          <p:cNvSpPr txBox="1"/>
          <p:nvPr/>
        </p:nvSpPr>
        <p:spPr>
          <a:xfrm>
            <a:off x="13906110" y="9632147"/>
            <a:ext cx="233643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>
                <a:latin typeface="Arial" panose="020B0604020202020204" pitchFamily="34" charset="0"/>
                <a:cs typeface="Arial" panose="020B0604020202020204" pitchFamily="34" charset="0"/>
              </a:rPr>
              <a:t>Ràng buộc F1&gt;= mục tiêu</a:t>
            </a:r>
            <a:endParaRPr lang="en-AU" sz="1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75D564DD-BA71-2572-BDFF-BBA9A87A859F}"/>
              </a:ext>
            </a:extLst>
          </p:cNvPr>
          <p:cNvSpPr/>
          <p:nvPr/>
        </p:nvSpPr>
        <p:spPr>
          <a:xfrm>
            <a:off x="13906110" y="10938715"/>
            <a:ext cx="4800989" cy="4924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Giải Branch and Cut</a:t>
            </a:r>
          </a:p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Dừng khi MIP gap         / time limit </a:t>
            </a:r>
            <a:endParaRPr lang="en-AU" sz="17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14" name="Object 113">
            <a:extLst>
              <a:ext uri="{FF2B5EF4-FFF2-40B4-BE49-F238E27FC236}">
                <a16:creationId xmlns:a16="http://schemas.microsoft.com/office/drawing/2014/main" id="{A1A022CD-DA45-D22D-EF05-B47D2FBA89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7327261"/>
              </p:ext>
            </p:extLst>
          </p:nvPr>
        </p:nvGraphicFramePr>
        <p:xfrm>
          <a:off x="16482508" y="11173932"/>
          <a:ext cx="384814" cy="2632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41200" imgH="164880" progId="Equation.DSMT4">
                  <p:embed/>
                </p:oleObj>
              </mc:Choice>
              <mc:Fallback>
                <p:oleObj name="Equation" r:id="rId22" imgW="24120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6482508" y="11173932"/>
                        <a:ext cx="384814" cy="2632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6" name="Connector: Elbow 115">
            <a:extLst>
              <a:ext uri="{FF2B5EF4-FFF2-40B4-BE49-F238E27FC236}">
                <a16:creationId xmlns:a16="http://schemas.microsoft.com/office/drawing/2014/main" id="{0C87223F-60B8-32BF-FDEA-A9D16A7457D8}"/>
              </a:ext>
            </a:extLst>
          </p:cNvPr>
          <p:cNvCxnSpPr>
            <a:cxnSpLocks/>
            <a:stCxn id="90" idx="2"/>
            <a:endCxn id="113" idx="0"/>
          </p:cNvCxnSpPr>
          <p:nvPr/>
        </p:nvCxnSpPr>
        <p:spPr>
          <a:xfrm rot="16200000" flipH="1">
            <a:off x="15357291" y="9989400"/>
            <a:ext cx="666349" cy="1232279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: Elbow 117">
            <a:extLst>
              <a:ext uri="{FF2B5EF4-FFF2-40B4-BE49-F238E27FC236}">
                <a16:creationId xmlns:a16="http://schemas.microsoft.com/office/drawing/2014/main" id="{A199AB92-41D5-6719-0ABC-C2131ABAF41A}"/>
              </a:ext>
            </a:extLst>
          </p:cNvPr>
          <p:cNvCxnSpPr>
            <a:cxnSpLocks/>
            <a:stCxn id="108" idx="2"/>
            <a:endCxn id="113" idx="0"/>
          </p:cNvCxnSpPr>
          <p:nvPr/>
        </p:nvCxnSpPr>
        <p:spPr>
          <a:xfrm rot="5400000">
            <a:off x="16620401" y="9964507"/>
            <a:ext cx="660413" cy="1288003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Flowchart: Terminator 118">
            <a:extLst>
              <a:ext uri="{FF2B5EF4-FFF2-40B4-BE49-F238E27FC236}">
                <a16:creationId xmlns:a16="http://schemas.microsoft.com/office/drawing/2014/main" id="{7574902F-22D4-A93F-EFEC-CE960694801D}"/>
              </a:ext>
            </a:extLst>
          </p:cNvPr>
          <p:cNvSpPr/>
          <p:nvPr/>
        </p:nvSpPr>
        <p:spPr>
          <a:xfrm>
            <a:off x="15722324" y="12284978"/>
            <a:ext cx="1168560" cy="470738"/>
          </a:xfrm>
          <a:prstGeom prst="flowChartTerminator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(5).</a:t>
            </a:r>
          </a:p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 thúc</a:t>
            </a:r>
            <a:endParaRPr lang="en-AU" sz="17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C82A7836-705B-AC30-C6EB-5BC731500046}"/>
              </a:ext>
            </a:extLst>
          </p:cNvPr>
          <p:cNvCxnSpPr>
            <a:cxnSpLocks/>
            <a:stCxn id="46" idx="2"/>
            <a:endCxn id="38" idx="0"/>
          </p:cNvCxnSpPr>
          <p:nvPr/>
        </p:nvCxnSpPr>
        <p:spPr>
          <a:xfrm>
            <a:off x="11273949" y="7304090"/>
            <a:ext cx="0" cy="28813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2853EA4E-DA58-B6D9-D543-BF05FD5FE618}"/>
              </a:ext>
            </a:extLst>
          </p:cNvPr>
          <p:cNvCxnSpPr>
            <a:cxnSpLocks/>
            <a:stCxn id="38" idx="2"/>
            <a:endCxn id="39" idx="0"/>
          </p:cNvCxnSpPr>
          <p:nvPr/>
        </p:nvCxnSpPr>
        <p:spPr>
          <a:xfrm>
            <a:off x="11273949" y="8084663"/>
            <a:ext cx="1" cy="2978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F6362EB6-290F-87C6-E827-BCBBFDD6E337}"/>
              </a:ext>
            </a:extLst>
          </p:cNvPr>
          <p:cNvCxnSpPr>
            <a:cxnSpLocks/>
            <a:stCxn id="39" idx="2"/>
            <a:endCxn id="42" idx="0"/>
          </p:cNvCxnSpPr>
          <p:nvPr/>
        </p:nvCxnSpPr>
        <p:spPr>
          <a:xfrm flipH="1">
            <a:off x="11273949" y="8874946"/>
            <a:ext cx="1" cy="2784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55EB6849-EFE2-8DA1-1721-56FFCC5252B8}"/>
              </a:ext>
            </a:extLst>
          </p:cNvPr>
          <p:cNvCxnSpPr>
            <a:cxnSpLocks/>
            <a:stCxn id="113" idx="2"/>
            <a:endCxn id="119" idx="0"/>
          </p:cNvCxnSpPr>
          <p:nvPr/>
        </p:nvCxnSpPr>
        <p:spPr>
          <a:xfrm flipH="1">
            <a:off x="16306604" y="11431158"/>
            <a:ext cx="1" cy="8538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AF00F3E7-FBA0-D933-F314-56217F647FD0}"/>
              </a:ext>
            </a:extLst>
          </p:cNvPr>
          <p:cNvCxnSpPr>
            <a:cxnSpLocks/>
            <a:stCxn id="3" idx="2"/>
            <a:endCxn id="13" idx="0"/>
          </p:cNvCxnSpPr>
          <p:nvPr/>
        </p:nvCxnSpPr>
        <p:spPr>
          <a:xfrm>
            <a:off x="14081044" y="3592200"/>
            <a:ext cx="1" cy="41465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2088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4D0B3-86E5-8C69-3681-0E1033A90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chart: Terminator 2">
            <a:extLst>
              <a:ext uri="{FF2B5EF4-FFF2-40B4-BE49-F238E27FC236}">
                <a16:creationId xmlns:a16="http://schemas.microsoft.com/office/drawing/2014/main" id="{B9009F50-6440-C9B1-28E8-C590ED4A3B76}"/>
              </a:ext>
            </a:extLst>
          </p:cNvPr>
          <p:cNvSpPr/>
          <p:nvPr/>
        </p:nvSpPr>
        <p:spPr>
          <a:xfrm>
            <a:off x="10996611" y="3129385"/>
            <a:ext cx="1685925" cy="470738"/>
          </a:xfrm>
          <a:prstGeom prst="flowChartTerminator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(1).</a:t>
            </a:r>
          </a:p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Bắt đầu</a:t>
            </a:r>
            <a:endParaRPr lang="en-AU" sz="17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F196307-7424-79FB-276F-858DDDA2A1BC}"/>
              </a:ext>
            </a:extLst>
          </p:cNvPr>
          <p:cNvSpPr/>
          <p:nvPr/>
        </p:nvSpPr>
        <p:spPr>
          <a:xfrm>
            <a:off x="9839324" y="3939074"/>
            <a:ext cx="4000499" cy="83210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(2).</a:t>
            </a:r>
          </a:p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Tổng hợp các mục tiêu và trọng số</a:t>
            </a:r>
          </a:p>
        </p:txBody>
      </p:sp>
      <p:sp>
        <p:nvSpPr>
          <p:cNvPr id="119" name="Flowchart: Terminator 118">
            <a:extLst>
              <a:ext uri="{FF2B5EF4-FFF2-40B4-BE49-F238E27FC236}">
                <a16:creationId xmlns:a16="http://schemas.microsoft.com/office/drawing/2014/main" id="{9AEC8AA3-8373-4C0D-4327-6F993B3B8844}"/>
              </a:ext>
            </a:extLst>
          </p:cNvPr>
          <p:cNvSpPr/>
          <p:nvPr/>
        </p:nvSpPr>
        <p:spPr>
          <a:xfrm>
            <a:off x="10996610" y="11493955"/>
            <a:ext cx="1685925" cy="470738"/>
          </a:xfrm>
          <a:prstGeom prst="flowChartTerminator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(12).</a:t>
            </a:r>
          </a:p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 thúc</a:t>
            </a:r>
            <a:endParaRPr lang="en-AU" sz="17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Diamond 1">
            <a:extLst>
              <a:ext uri="{FF2B5EF4-FFF2-40B4-BE49-F238E27FC236}">
                <a16:creationId xmlns:a16="http://schemas.microsoft.com/office/drawing/2014/main" id="{9B52BFD4-6EE2-86F9-680F-A9A5A675B93F}"/>
              </a:ext>
            </a:extLst>
          </p:cNvPr>
          <p:cNvSpPr/>
          <p:nvPr/>
        </p:nvSpPr>
        <p:spPr>
          <a:xfrm>
            <a:off x="9839323" y="9068521"/>
            <a:ext cx="4000500" cy="883920"/>
          </a:xfrm>
          <a:prstGeom prst="diamond">
            <a:avLst/>
          </a:prstGeom>
          <a:solidFill>
            <a:schemeClr val="accent4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(7).</a:t>
            </a:r>
          </a:p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Kiểm tra các biến nguyên</a:t>
            </a:r>
            <a:endParaRPr lang="en-AU" sz="17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3F70AB3-751C-F2F5-DA3B-BD3C0DC80D7F}"/>
              </a:ext>
            </a:extLst>
          </p:cNvPr>
          <p:cNvCxnSpPr>
            <a:cxnSpLocks/>
            <a:stCxn id="3" idx="2"/>
            <a:endCxn id="33" idx="0"/>
          </p:cNvCxnSpPr>
          <p:nvPr/>
        </p:nvCxnSpPr>
        <p:spPr>
          <a:xfrm>
            <a:off x="11839574" y="3600123"/>
            <a:ext cx="0" cy="3389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F1FD5CFF-BD57-D7AC-F4D1-148D3EAC119C}"/>
              </a:ext>
            </a:extLst>
          </p:cNvPr>
          <p:cNvSpPr/>
          <p:nvPr/>
        </p:nvSpPr>
        <p:spPr>
          <a:xfrm>
            <a:off x="9839324" y="4966257"/>
            <a:ext cx="4000499" cy="83210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(3).</a:t>
            </a:r>
          </a:p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Xây dựng cấu trúc MILP</a:t>
            </a:r>
          </a:p>
          <a:p>
            <a:pPr algn="ctr"/>
            <a:endParaRPr lang="en-AU" sz="17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516C0F4-AF97-79CA-7716-E92451B32582}"/>
              </a:ext>
            </a:extLst>
          </p:cNvPr>
          <p:cNvSpPr/>
          <p:nvPr/>
        </p:nvSpPr>
        <p:spPr>
          <a:xfrm>
            <a:off x="9839324" y="5993440"/>
            <a:ext cx="4000499" cy="83210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(4).</a:t>
            </a:r>
          </a:p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Khởi tạo nút gốc</a:t>
            </a:r>
          </a:p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Bài toán LP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A78EC92-6BCD-B9C6-5728-C541F835AE40}"/>
              </a:ext>
            </a:extLst>
          </p:cNvPr>
          <p:cNvSpPr/>
          <p:nvPr/>
        </p:nvSpPr>
        <p:spPr>
          <a:xfrm>
            <a:off x="9839325" y="8047808"/>
            <a:ext cx="4000500" cy="83078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(6).</a:t>
            </a:r>
          </a:p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Đánh giá các chỉ tiêu trạm sạc</a:t>
            </a:r>
          </a:p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(số EV phục vụ, cân bằng tải, diện tích)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C6722D8-3E7C-AFBB-23FB-B040FFBB03D4}"/>
              </a:ext>
            </a:extLst>
          </p:cNvPr>
          <p:cNvCxnSpPr>
            <a:cxnSpLocks/>
            <a:stCxn id="33" idx="2"/>
            <a:endCxn id="29" idx="0"/>
          </p:cNvCxnSpPr>
          <p:nvPr/>
        </p:nvCxnSpPr>
        <p:spPr>
          <a:xfrm>
            <a:off x="11839574" y="4771178"/>
            <a:ext cx="0" cy="1950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C6DA93F-DBDE-0C13-7C01-EE55F5272B6A}"/>
              </a:ext>
            </a:extLst>
          </p:cNvPr>
          <p:cNvCxnSpPr>
            <a:cxnSpLocks/>
            <a:stCxn id="29" idx="2"/>
            <a:endCxn id="30" idx="0"/>
          </p:cNvCxnSpPr>
          <p:nvPr/>
        </p:nvCxnSpPr>
        <p:spPr>
          <a:xfrm>
            <a:off x="11839574" y="5798361"/>
            <a:ext cx="0" cy="1950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93331A9-7050-D56E-9F6A-522F0906F716}"/>
              </a:ext>
            </a:extLst>
          </p:cNvPr>
          <p:cNvCxnSpPr>
            <a:cxnSpLocks/>
            <a:stCxn id="31" idx="2"/>
            <a:endCxn id="2" idx="0"/>
          </p:cNvCxnSpPr>
          <p:nvPr/>
        </p:nvCxnSpPr>
        <p:spPr>
          <a:xfrm flipH="1">
            <a:off x="11839573" y="8878593"/>
            <a:ext cx="2" cy="18992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B55FBB07-AC38-E88D-10FF-59CE2218E37D}"/>
              </a:ext>
            </a:extLst>
          </p:cNvPr>
          <p:cNvSpPr/>
          <p:nvPr/>
        </p:nvSpPr>
        <p:spPr>
          <a:xfrm>
            <a:off x="9839323" y="10473241"/>
            <a:ext cx="4000500" cy="83078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(11).</a:t>
            </a:r>
          </a:p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Cập nhật nghiệm tốt nhất</a:t>
            </a:r>
          </a:p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(Phương án tối ưu)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F5D0606C-95DE-556F-A57F-B7096CD43E4C}"/>
              </a:ext>
            </a:extLst>
          </p:cNvPr>
          <p:cNvCxnSpPr>
            <a:cxnSpLocks/>
            <a:stCxn id="2" idx="2"/>
            <a:endCxn id="64" idx="0"/>
          </p:cNvCxnSpPr>
          <p:nvPr/>
        </p:nvCxnSpPr>
        <p:spPr>
          <a:xfrm>
            <a:off x="11839573" y="9952441"/>
            <a:ext cx="0" cy="520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A71B5D38-C7BA-0FD3-7B62-0A36348F9C28}"/>
              </a:ext>
            </a:extLst>
          </p:cNvPr>
          <p:cNvCxnSpPr>
            <a:cxnSpLocks/>
            <a:stCxn id="64" idx="2"/>
            <a:endCxn id="119" idx="0"/>
          </p:cNvCxnSpPr>
          <p:nvPr/>
        </p:nvCxnSpPr>
        <p:spPr>
          <a:xfrm>
            <a:off x="11839573" y="11304026"/>
            <a:ext cx="0" cy="18992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68E526D7-4E15-ADDB-5DD6-4935E8B83302}"/>
              </a:ext>
            </a:extLst>
          </p:cNvPr>
          <p:cNvSpPr/>
          <p:nvPr/>
        </p:nvSpPr>
        <p:spPr>
          <a:xfrm>
            <a:off x="14934402" y="7021283"/>
            <a:ext cx="4000496" cy="83210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(8).</a:t>
            </a:r>
          </a:p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Thêm mặt phẳng cắt</a:t>
            </a:r>
          </a:p>
          <a:p>
            <a:pPr algn="ctr"/>
            <a:endParaRPr lang="en-AU" sz="17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BA7CC945-756F-2C8E-1A13-7AAE65C4B690}"/>
              </a:ext>
            </a:extLst>
          </p:cNvPr>
          <p:cNvSpPr/>
          <p:nvPr/>
        </p:nvSpPr>
        <p:spPr>
          <a:xfrm>
            <a:off x="14934401" y="8042000"/>
            <a:ext cx="4000497" cy="83210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(9).</a:t>
            </a:r>
          </a:p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 nhánh phương án theo biến phân số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3FBA560B-AC35-392D-A639-D1D049ED6522}"/>
              </a:ext>
            </a:extLst>
          </p:cNvPr>
          <p:cNvSpPr/>
          <p:nvPr/>
        </p:nvSpPr>
        <p:spPr>
          <a:xfrm>
            <a:off x="14934402" y="9060375"/>
            <a:ext cx="4000498" cy="83210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(10).</a:t>
            </a:r>
          </a:p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Chọn nút kế tiếp và giải LP tại nút</a:t>
            </a:r>
          </a:p>
        </p:txBody>
      </p: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62518492-0F39-EC58-1777-CB89F1E9C412}"/>
              </a:ext>
            </a:extLst>
          </p:cNvPr>
          <p:cNvCxnSpPr>
            <a:cxnSpLocks/>
            <a:stCxn id="78" idx="3"/>
            <a:endCxn id="30" idx="3"/>
          </p:cNvCxnSpPr>
          <p:nvPr/>
        </p:nvCxnSpPr>
        <p:spPr>
          <a:xfrm flipH="1" flipV="1">
            <a:off x="13839823" y="6409492"/>
            <a:ext cx="5095077" cy="3066935"/>
          </a:xfrm>
          <a:prstGeom prst="bentConnector3">
            <a:avLst>
              <a:gd name="adj1" fmla="val -4487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C2EE93E8-A6B2-92D9-BD2D-41A15A1E586F}"/>
              </a:ext>
            </a:extLst>
          </p:cNvPr>
          <p:cNvSpPr/>
          <p:nvPr/>
        </p:nvSpPr>
        <p:spPr>
          <a:xfrm>
            <a:off x="9839324" y="7021285"/>
            <a:ext cx="4000499" cy="83078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(5).</a:t>
            </a:r>
          </a:p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Giải bài toán LP</a:t>
            </a:r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6F55BB44-4BD1-6CE7-FC1A-75EEB4012876}"/>
              </a:ext>
            </a:extLst>
          </p:cNvPr>
          <p:cNvCxnSpPr>
            <a:cxnSpLocks/>
            <a:stCxn id="75" idx="2"/>
            <a:endCxn id="77" idx="0"/>
          </p:cNvCxnSpPr>
          <p:nvPr/>
        </p:nvCxnSpPr>
        <p:spPr>
          <a:xfrm>
            <a:off x="16934650" y="7853387"/>
            <a:ext cx="0" cy="18861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98414693-9576-9632-60A9-AB03C3390363}"/>
              </a:ext>
            </a:extLst>
          </p:cNvPr>
          <p:cNvCxnSpPr>
            <a:cxnSpLocks/>
            <a:stCxn id="77" idx="2"/>
            <a:endCxn id="78" idx="0"/>
          </p:cNvCxnSpPr>
          <p:nvPr/>
        </p:nvCxnSpPr>
        <p:spPr>
          <a:xfrm>
            <a:off x="16934650" y="8874104"/>
            <a:ext cx="1" cy="18627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F8549ABE-A6B7-4409-9572-993AFEA66ECE}"/>
              </a:ext>
            </a:extLst>
          </p:cNvPr>
          <p:cNvCxnSpPr>
            <a:cxnSpLocks/>
            <a:stCxn id="30" idx="2"/>
            <a:endCxn id="84" idx="0"/>
          </p:cNvCxnSpPr>
          <p:nvPr/>
        </p:nvCxnSpPr>
        <p:spPr>
          <a:xfrm>
            <a:off x="11839574" y="6825544"/>
            <a:ext cx="0" cy="19574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CFC2D8CF-9337-747C-13EF-50E0CB3CC1EE}"/>
              </a:ext>
            </a:extLst>
          </p:cNvPr>
          <p:cNvCxnSpPr>
            <a:cxnSpLocks/>
            <a:stCxn id="84" idx="2"/>
            <a:endCxn id="31" idx="0"/>
          </p:cNvCxnSpPr>
          <p:nvPr/>
        </p:nvCxnSpPr>
        <p:spPr>
          <a:xfrm>
            <a:off x="11839574" y="7852070"/>
            <a:ext cx="1" cy="19573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CDC9960F-C277-F6EB-AFE6-08C33E88C241}"/>
              </a:ext>
            </a:extLst>
          </p:cNvPr>
          <p:cNvSpPr txBox="1"/>
          <p:nvPr/>
        </p:nvSpPr>
        <p:spPr>
          <a:xfrm>
            <a:off x="12628463" y="9113182"/>
            <a:ext cx="287377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z="1700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endParaRPr lang="en-AU" sz="1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A7091CA4-A9D1-CEAA-CC23-11BE68BAE66D}"/>
              </a:ext>
            </a:extLst>
          </p:cNvPr>
          <p:cNvSpPr txBox="1"/>
          <p:nvPr/>
        </p:nvSpPr>
        <p:spPr>
          <a:xfrm>
            <a:off x="10625081" y="10066946"/>
            <a:ext cx="287377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z="1700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endParaRPr lang="en-AU" sz="1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36" name="Object 135">
            <a:extLst>
              <a:ext uri="{FF2B5EF4-FFF2-40B4-BE49-F238E27FC236}">
                <a16:creationId xmlns:a16="http://schemas.microsoft.com/office/drawing/2014/main" id="{4B2DF733-5DC0-8AA6-07D5-C716A21B5C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0501144"/>
              </p:ext>
            </p:extLst>
          </p:nvPr>
        </p:nvGraphicFramePr>
        <p:xfrm>
          <a:off x="11087654" y="5471382"/>
          <a:ext cx="1540809" cy="2982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80800" imgH="228600" progId="Equation.DSMT4">
                  <p:embed/>
                </p:oleObj>
              </mc:Choice>
              <mc:Fallback>
                <p:oleObj name="Equation" r:id="rId2" imgW="11808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087654" y="5471382"/>
                        <a:ext cx="1540809" cy="2982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BF986D41-7510-CC9F-FCA9-E9D614FC7D36}"/>
              </a:ext>
            </a:extLst>
          </p:cNvPr>
          <p:cNvCxnSpPr>
            <a:cxnSpLocks/>
            <a:stCxn id="2" idx="3"/>
            <a:endCxn id="75" idx="1"/>
          </p:cNvCxnSpPr>
          <p:nvPr/>
        </p:nvCxnSpPr>
        <p:spPr>
          <a:xfrm flipV="1">
            <a:off x="13839823" y="7437335"/>
            <a:ext cx="1094579" cy="2073146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2399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910DC-3944-50AE-1317-070E85142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chart: Terminator 2">
            <a:extLst>
              <a:ext uri="{FF2B5EF4-FFF2-40B4-BE49-F238E27FC236}">
                <a16:creationId xmlns:a16="http://schemas.microsoft.com/office/drawing/2014/main" id="{C77A4924-7E98-135F-F0EF-F3024051792E}"/>
              </a:ext>
            </a:extLst>
          </p:cNvPr>
          <p:cNvSpPr/>
          <p:nvPr/>
        </p:nvSpPr>
        <p:spPr>
          <a:xfrm>
            <a:off x="10996611" y="3055154"/>
            <a:ext cx="1685925" cy="544969"/>
          </a:xfrm>
          <a:prstGeom prst="flowChartTermina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(1).</a:t>
            </a:r>
          </a:p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826FC7E-75CF-B99D-83BA-26B243BE5239}"/>
              </a:ext>
            </a:extLst>
          </p:cNvPr>
          <p:cNvSpPr/>
          <p:nvPr/>
        </p:nvSpPr>
        <p:spPr>
          <a:xfrm>
            <a:off x="9839324" y="3939074"/>
            <a:ext cx="4000499" cy="83210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(2).</a:t>
            </a:r>
          </a:p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Aggregate objective functions and weights</a:t>
            </a:r>
          </a:p>
        </p:txBody>
      </p:sp>
      <p:sp>
        <p:nvSpPr>
          <p:cNvPr id="119" name="Flowchart: Terminator 118">
            <a:extLst>
              <a:ext uri="{FF2B5EF4-FFF2-40B4-BE49-F238E27FC236}">
                <a16:creationId xmlns:a16="http://schemas.microsoft.com/office/drawing/2014/main" id="{F47D5C0B-8593-B174-82F1-521517AC47F8}"/>
              </a:ext>
            </a:extLst>
          </p:cNvPr>
          <p:cNvSpPr/>
          <p:nvPr/>
        </p:nvSpPr>
        <p:spPr>
          <a:xfrm>
            <a:off x="10996610" y="11989254"/>
            <a:ext cx="1685925" cy="545645"/>
          </a:xfrm>
          <a:prstGeom prst="flowChartTermina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(12).</a:t>
            </a:r>
          </a:p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endParaRPr lang="en-AU" sz="17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Diamond 1">
            <a:extLst>
              <a:ext uri="{FF2B5EF4-FFF2-40B4-BE49-F238E27FC236}">
                <a16:creationId xmlns:a16="http://schemas.microsoft.com/office/drawing/2014/main" id="{DC1441B8-F780-6306-4D7D-554C07BF64A7}"/>
              </a:ext>
            </a:extLst>
          </p:cNvPr>
          <p:cNvSpPr/>
          <p:nvPr/>
        </p:nvSpPr>
        <p:spPr>
          <a:xfrm>
            <a:off x="9839323" y="9563821"/>
            <a:ext cx="4000500" cy="883920"/>
          </a:xfrm>
          <a:prstGeom prst="diamond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(7).</a:t>
            </a:r>
          </a:p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 integer variables</a:t>
            </a:r>
            <a:endParaRPr lang="en-AU" sz="17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B5AA140-6A2D-D996-D635-272AAF3D4FA4}"/>
              </a:ext>
            </a:extLst>
          </p:cNvPr>
          <p:cNvCxnSpPr>
            <a:cxnSpLocks/>
            <a:stCxn id="3" idx="2"/>
            <a:endCxn id="33" idx="0"/>
          </p:cNvCxnSpPr>
          <p:nvPr/>
        </p:nvCxnSpPr>
        <p:spPr>
          <a:xfrm>
            <a:off x="11839574" y="3600123"/>
            <a:ext cx="0" cy="33895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C98474AA-3C82-A0B9-D43B-FB3B23287BDC}"/>
              </a:ext>
            </a:extLst>
          </p:cNvPr>
          <p:cNvSpPr/>
          <p:nvPr/>
        </p:nvSpPr>
        <p:spPr>
          <a:xfrm>
            <a:off x="9839324" y="4966257"/>
            <a:ext cx="4000499" cy="83210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(3).</a:t>
            </a:r>
          </a:p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Formulate the scalarised MILP model</a:t>
            </a:r>
          </a:p>
          <a:p>
            <a:pPr algn="ctr"/>
            <a:endParaRPr lang="en-AU" sz="17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1343E3C-42BB-20DB-09A8-869665369672}"/>
              </a:ext>
            </a:extLst>
          </p:cNvPr>
          <p:cNvSpPr/>
          <p:nvPr/>
        </p:nvSpPr>
        <p:spPr>
          <a:xfrm>
            <a:off x="9839324" y="5993440"/>
            <a:ext cx="4000499" cy="83210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(4).</a:t>
            </a:r>
          </a:p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Initialize the root node and LP problem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C6B5132-368E-E1ED-8FFF-73EDD9831B34}"/>
              </a:ext>
            </a:extLst>
          </p:cNvPr>
          <p:cNvSpPr/>
          <p:nvPr/>
        </p:nvSpPr>
        <p:spPr>
          <a:xfrm>
            <a:off x="9839325" y="8047808"/>
            <a:ext cx="4000500" cy="132608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(6).</a:t>
            </a:r>
          </a:p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Evaluate charging-station performance indicators</a:t>
            </a:r>
          </a:p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(served EV demand, load balance, land-use area)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109FD4E-FA8D-0489-941F-CFEDBE96F11B}"/>
              </a:ext>
            </a:extLst>
          </p:cNvPr>
          <p:cNvCxnSpPr>
            <a:cxnSpLocks/>
            <a:stCxn id="33" idx="2"/>
            <a:endCxn id="29" idx="0"/>
          </p:cNvCxnSpPr>
          <p:nvPr/>
        </p:nvCxnSpPr>
        <p:spPr>
          <a:xfrm>
            <a:off x="11839574" y="4771178"/>
            <a:ext cx="0" cy="19507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7E6CD4E-7990-3824-3AD3-070A86880AE3}"/>
              </a:ext>
            </a:extLst>
          </p:cNvPr>
          <p:cNvCxnSpPr>
            <a:cxnSpLocks/>
            <a:stCxn id="29" idx="2"/>
            <a:endCxn id="30" idx="0"/>
          </p:cNvCxnSpPr>
          <p:nvPr/>
        </p:nvCxnSpPr>
        <p:spPr>
          <a:xfrm>
            <a:off x="11839574" y="5798361"/>
            <a:ext cx="0" cy="19507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4645DAF-C3CD-55B1-7B1D-E83C54B408C5}"/>
              </a:ext>
            </a:extLst>
          </p:cNvPr>
          <p:cNvCxnSpPr>
            <a:cxnSpLocks/>
            <a:endCxn id="2" idx="0"/>
          </p:cNvCxnSpPr>
          <p:nvPr/>
        </p:nvCxnSpPr>
        <p:spPr>
          <a:xfrm flipH="1">
            <a:off x="11839573" y="9373893"/>
            <a:ext cx="2" cy="18992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951DF1DE-49C5-720E-C55D-C860FD65253B}"/>
              </a:ext>
            </a:extLst>
          </p:cNvPr>
          <p:cNvSpPr/>
          <p:nvPr/>
        </p:nvSpPr>
        <p:spPr>
          <a:xfrm>
            <a:off x="9839323" y="10968541"/>
            <a:ext cx="4000500" cy="83078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(11).</a:t>
            </a:r>
          </a:p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 the incumbent solution</a:t>
            </a:r>
          </a:p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(optimal solution)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D2D7E27-B858-DF78-FB49-BAF47D46FAFF}"/>
              </a:ext>
            </a:extLst>
          </p:cNvPr>
          <p:cNvCxnSpPr>
            <a:cxnSpLocks/>
            <a:stCxn id="2" idx="2"/>
            <a:endCxn id="64" idx="0"/>
          </p:cNvCxnSpPr>
          <p:nvPr/>
        </p:nvCxnSpPr>
        <p:spPr>
          <a:xfrm>
            <a:off x="11839573" y="10447741"/>
            <a:ext cx="0" cy="5208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77A14C3F-3667-9D75-22D4-D835C6D37CB7}"/>
              </a:ext>
            </a:extLst>
          </p:cNvPr>
          <p:cNvCxnSpPr>
            <a:cxnSpLocks/>
            <a:stCxn id="64" idx="2"/>
            <a:endCxn id="119" idx="0"/>
          </p:cNvCxnSpPr>
          <p:nvPr/>
        </p:nvCxnSpPr>
        <p:spPr>
          <a:xfrm>
            <a:off x="11839573" y="11799326"/>
            <a:ext cx="0" cy="18992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BDB96037-0419-9A4A-0240-40175F954B9F}"/>
              </a:ext>
            </a:extLst>
          </p:cNvPr>
          <p:cNvSpPr/>
          <p:nvPr/>
        </p:nvSpPr>
        <p:spPr>
          <a:xfrm>
            <a:off x="14760231" y="7117091"/>
            <a:ext cx="4000496" cy="83210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(8).</a:t>
            </a:r>
          </a:p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 cutting planes</a:t>
            </a:r>
            <a:endParaRPr lang="en-AU" sz="17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5100148-543D-B060-F6DE-20FB4F768682}"/>
              </a:ext>
            </a:extLst>
          </p:cNvPr>
          <p:cNvSpPr/>
          <p:nvPr/>
        </p:nvSpPr>
        <p:spPr>
          <a:xfrm>
            <a:off x="14760230" y="8137808"/>
            <a:ext cx="4000497" cy="83210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(9).</a:t>
            </a:r>
          </a:p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Branch on a fractional variable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04903A3F-0CE4-3973-BF5E-ADA582045126}"/>
              </a:ext>
            </a:extLst>
          </p:cNvPr>
          <p:cNvSpPr/>
          <p:nvPr/>
        </p:nvSpPr>
        <p:spPr>
          <a:xfrm>
            <a:off x="14760231" y="9156183"/>
            <a:ext cx="4000498" cy="83210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(10).</a:t>
            </a:r>
          </a:p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the next node and solve the LP at that node</a:t>
            </a:r>
          </a:p>
        </p:txBody>
      </p: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AA41AFE0-5BE1-CF64-4C90-78707AC8E301}"/>
              </a:ext>
            </a:extLst>
          </p:cNvPr>
          <p:cNvCxnSpPr>
            <a:cxnSpLocks/>
            <a:stCxn id="78" idx="3"/>
            <a:endCxn id="30" idx="3"/>
          </p:cNvCxnSpPr>
          <p:nvPr/>
        </p:nvCxnSpPr>
        <p:spPr>
          <a:xfrm flipH="1" flipV="1">
            <a:off x="13839823" y="6409492"/>
            <a:ext cx="4920906" cy="3162743"/>
          </a:xfrm>
          <a:prstGeom prst="bentConnector3">
            <a:avLst>
              <a:gd name="adj1" fmla="val -4645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3B87E6AF-410B-AAF8-738B-96D72E327F87}"/>
              </a:ext>
            </a:extLst>
          </p:cNvPr>
          <p:cNvSpPr/>
          <p:nvPr/>
        </p:nvSpPr>
        <p:spPr>
          <a:xfrm>
            <a:off x="9839324" y="7021285"/>
            <a:ext cx="4000499" cy="83078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(5).</a:t>
            </a:r>
          </a:p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Solve the LP problem</a:t>
            </a:r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4552FE23-5E5F-DD1E-42CA-32450E6C9421}"/>
              </a:ext>
            </a:extLst>
          </p:cNvPr>
          <p:cNvCxnSpPr>
            <a:cxnSpLocks/>
            <a:stCxn id="75" idx="2"/>
            <a:endCxn id="77" idx="0"/>
          </p:cNvCxnSpPr>
          <p:nvPr/>
        </p:nvCxnSpPr>
        <p:spPr>
          <a:xfrm>
            <a:off x="16760479" y="7949195"/>
            <a:ext cx="0" cy="18861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10F291DD-DA30-9281-05D8-0B56F7EEB8B9}"/>
              </a:ext>
            </a:extLst>
          </p:cNvPr>
          <p:cNvCxnSpPr>
            <a:cxnSpLocks/>
            <a:stCxn id="77" idx="2"/>
            <a:endCxn id="78" idx="0"/>
          </p:cNvCxnSpPr>
          <p:nvPr/>
        </p:nvCxnSpPr>
        <p:spPr>
          <a:xfrm>
            <a:off x="16760479" y="8969912"/>
            <a:ext cx="1" cy="18627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15922851-AAA3-0C19-78FC-C3C52B950355}"/>
              </a:ext>
            </a:extLst>
          </p:cNvPr>
          <p:cNvCxnSpPr>
            <a:cxnSpLocks/>
            <a:stCxn id="30" idx="2"/>
            <a:endCxn id="84" idx="0"/>
          </p:cNvCxnSpPr>
          <p:nvPr/>
        </p:nvCxnSpPr>
        <p:spPr>
          <a:xfrm>
            <a:off x="11839574" y="6825544"/>
            <a:ext cx="0" cy="19574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D16293C9-9902-B15F-E40D-9ACCC99BF1CE}"/>
              </a:ext>
            </a:extLst>
          </p:cNvPr>
          <p:cNvCxnSpPr>
            <a:cxnSpLocks/>
            <a:stCxn id="84" idx="2"/>
            <a:endCxn id="31" idx="0"/>
          </p:cNvCxnSpPr>
          <p:nvPr/>
        </p:nvCxnSpPr>
        <p:spPr>
          <a:xfrm>
            <a:off x="11839574" y="7852070"/>
            <a:ext cx="1" cy="19573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24A14516-2CBB-172C-76EE-0AD03115B9F5}"/>
              </a:ext>
            </a:extLst>
          </p:cNvPr>
          <p:cNvSpPr txBox="1"/>
          <p:nvPr/>
        </p:nvSpPr>
        <p:spPr>
          <a:xfrm>
            <a:off x="12628463" y="9608482"/>
            <a:ext cx="2873770" cy="353943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z="170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n-AU" sz="1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9402EE71-28AE-499D-A4A1-4C618CA526B8}"/>
              </a:ext>
            </a:extLst>
          </p:cNvPr>
          <p:cNvSpPr txBox="1"/>
          <p:nvPr/>
        </p:nvSpPr>
        <p:spPr>
          <a:xfrm>
            <a:off x="10625081" y="10562246"/>
            <a:ext cx="2873770" cy="353943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z="1700">
                <a:latin typeface="Arial" panose="020B0604020202020204" pitchFamily="34" charset="0"/>
                <a:cs typeface="Arial" panose="020B0604020202020204" pitchFamily="34" charset="0"/>
              </a:rPr>
              <a:t>Yes</a:t>
            </a:r>
            <a:endParaRPr lang="en-AU" sz="1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36" name="Object 135">
            <a:extLst>
              <a:ext uri="{FF2B5EF4-FFF2-40B4-BE49-F238E27FC236}">
                <a16:creationId xmlns:a16="http://schemas.microsoft.com/office/drawing/2014/main" id="{254633C1-739F-E2DA-8C9A-5EA11DF9FA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2379042"/>
              </p:ext>
            </p:extLst>
          </p:nvPr>
        </p:nvGraphicFramePr>
        <p:xfrm>
          <a:off x="11087654" y="5471382"/>
          <a:ext cx="1540809" cy="2982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80800" imgH="228600" progId="Equation.DSMT4">
                  <p:embed/>
                </p:oleObj>
              </mc:Choice>
              <mc:Fallback>
                <p:oleObj name="Equation" r:id="rId2" imgW="1180800" imgH="228600" progId="Equation.DSMT4">
                  <p:embed/>
                  <p:pic>
                    <p:nvPicPr>
                      <p:cNvPr id="136" name="Object 135">
                        <a:extLst>
                          <a:ext uri="{FF2B5EF4-FFF2-40B4-BE49-F238E27FC236}">
                            <a16:creationId xmlns:a16="http://schemas.microsoft.com/office/drawing/2014/main" id="{4B2DF733-5DC0-8AA6-07D5-C716A21B5C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087654" y="5471382"/>
                        <a:ext cx="1540809" cy="2982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7E3EDC21-0CDC-C570-3FBC-1764BC1CFFD7}"/>
              </a:ext>
            </a:extLst>
          </p:cNvPr>
          <p:cNvCxnSpPr>
            <a:cxnSpLocks/>
            <a:stCxn id="2" idx="3"/>
            <a:endCxn id="75" idx="1"/>
          </p:cNvCxnSpPr>
          <p:nvPr/>
        </p:nvCxnSpPr>
        <p:spPr>
          <a:xfrm flipV="1">
            <a:off x="13839823" y="7533143"/>
            <a:ext cx="920408" cy="2472638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5364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867D2-7DF6-D8A6-4486-C9A33E948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chart: Terminator 2">
            <a:extLst>
              <a:ext uri="{FF2B5EF4-FFF2-40B4-BE49-F238E27FC236}">
                <a16:creationId xmlns:a16="http://schemas.microsoft.com/office/drawing/2014/main" id="{9E0EC6BD-77F7-C345-0459-694D397B17D8}"/>
              </a:ext>
            </a:extLst>
          </p:cNvPr>
          <p:cNvSpPr/>
          <p:nvPr/>
        </p:nvSpPr>
        <p:spPr>
          <a:xfrm>
            <a:off x="11029720" y="2804676"/>
            <a:ext cx="1685925" cy="544969"/>
          </a:xfrm>
          <a:prstGeom prst="flowChartTermina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(1).</a:t>
            </a:r>
          </a:p>
          <a:p>
            <a:pPr algn="ctr"/>
            <a:r>
              <a:rPr lang="en-US" sz="17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21864BB-61AC-8C3C-DB3E-67A688BC7828}"/>
              </a:ext>
            </a:extLst>
          </p:cNvPr>
          <p:cNvSpPr/>
          <p:nvPr/>
        </p:nvSpPr>
        <p:spPr>
          <a:xfrm>
            <a:off x="9608457" y="3793932"/>
            <a:ext cx="4528457" cy="131697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(2).</a:t>
            </a:r>
          </a:p>
          <a:p>
            <a:pPr algn="ctr"/>
            <a:r>
              <a:rPr lang="en-US" sz="17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Data</a:t>
            </a:r>
          </a:p>
          <a:p>
            <a:pPr algn="ctr">
              <a:lnSpc>
                <a:spcPct val="150000"/>
              </a:lnSpc>
            </a:pPr>
            <a:r>
              <a:rPr lang="en-US" sz="17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(Demand points, distance matrix, station capacity, planning parameters)</a:t>
            </a:r>
          </a:p>
        </p:txBody>
      </p:sp>
      <p:sp>
        <p:nvSpPr>
          <p:cNvPr id="119" name="Flowchart: Terminator 118">
            <a:extLst>
              <a:ext uri="{FF2B5EF4-FFF2-40B4-BE49-F238E27FC236}">
                <a16:creationId xmlns:a16="http://schemas.microsoft.com/office/drawing/2014/main" id="{2B386128-D02D-9F05-E6A0-3E7F885E2ED4}"/>
              </a:ext>
            </a:extLst>
          </p:cNvPr>
          <p:cNvSpPr/>
          <p:nvPr/>
        </p:nvSpPr>
        <p:spPr>
          <a:xfrm>
            <a:off x="11029721" y="13304819"/>
            <a:ext cx="1685925" cy="545645"/>
          </a:xfrm>
          <a:prstGeom prst="flowChartTermina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(7).</a:t>
            </a:r>
          </a:p>
          <a:p>
            <a:pPr algn="ctr"/>
            <a:r>
              <a:rPr lang="en-US" sz="17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AU" sz="17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E701DC7-B0FF-4F9A-2093-A61FB5980104}"/>
              </a:ext>
            </a:extLst>
          </p:cNvPr>
          <p:cNvCxnSpPr>
            <a:cxnSpLocks/>
            <a:stCxn id="3" idx="2"/>
            <a:endCxn id="33" idx="0"/>
          </p:cNvCxnSpPr>
          <p:nvPr/>
        </p:nvCxnSpPr>
        <p:spPr>
          <a:xfrm>
            <a:off x="11872683" y="3349645"/>
            <a:ext cx="3" cy="44428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0F09C9C1-EDCA-10B4-5975-A9ECFC21D0FB}"/>
              </a:ext>
            </a:extLst>
          </p:cNvPr>
          <p:cNvSpPr/>
          <p:nvPr/>
        </p:nvSpPr>
        <p:spPr>
          <a:xfrm>
            <a:off x="9608457" y="5700333"/>
            <a:ext cx="4528457" cy="131697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(3).</a:t>
            </a:r>
          </a:p>
          <a:p>
            <a:pPr algn="ctr"/>
            <a:r>
              <a:rPr lang="en-US" sz="17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MOMIP Formulation</a:t>
            </a:r>
          </a:p>
          <a:p>
            <a:pPr algn="ctr">
              <a:lnSpc>
                <a:spcPct val="150000"/>
              </a:lnSpc>
            </a:pPr>
            <a:r>
              <a:rPr lang="en-US" sz="17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(Decision variables; objective functions F1, F2, F3; constraints)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6A860E-3305-149F-957E-03B65D16DC0F}"/>
              </a:ext>
            </a:extLst>
          </p:cNvPr>
          <p:cNvSpPr/>
          <p:nvPr/>
        </p:nvSpPr>
        <p:spPr>
          <a:xfrm>
            <a:off x="7261225" y="7606734"/>
            <a:ext cx="4000499" cy="320225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(4).</a:t>
            </a:r>
          </a:p>
          <a:p>
            <a:pPr algn="ctr"/>
            <a:r>
              <a:rPr lang="en-US" sz="17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Exact Solution: Branch and Cut</a:t>
            </a:r>
          </a:p>
          <a:p>
            <a:pPr algn="ctr"/>
            <a:endParaRPr lang="en-US" sz="17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7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Programming (LP) relaxation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7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Solve LP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7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integer solution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7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cuts / branching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7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next node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7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 best exact solution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2F4392-C3C5-8A5B-A96C-E87AC3F71F0F}"/>
              </a:ext>
            </a:extLst>
          </p:cNvPr>
          <p:cNvSpPr/>
          <p:nvPr/>
        </p:nvSpPr>
        <p:spPr>
          <a:xfrm>
            <a:off x="12473084" y="7606734"/>
            <a:ext cx="4000499" cy="320225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(5).</a:t>
            </a:r>
          </a:p>
          <a:p>
            <a:pPr algn="ctr"/>
            <a:r>
              <a:rPr lang="en-US" sz="17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Heuristic Solution: BIPSO-GR</a:t>
            </a:r>
          </a:p>
          <a:p>
            <a:pPr algn="ctr"/>
            <a:endParaRPr lang="en-US" sz="17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AU" sz="17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Swarm initialization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AU" sz="17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Velocity/position update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AU" sz="17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Greedy repair 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AU" sz="17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Fitness evaluation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AU" sz="17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pbest/gbest update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AU" sz="17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Stopping criterion</a:t>
            </a:r>
            <a:endParaRPr lang="en-US" sz="1700" i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5672ACED-C48D-D4EF-1697-A382AF9DC153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 rot="5400000">
            <a:off x="10272367" y="6006415"/>
            <a:ext cx="589428" cy="2611211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4634183B-FD18-2F31-895F-C46152D4DFB5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 rot="16200000" flipH="1">
            <a:off x="12878296" y="6011696"/>
            <a:ext cx="589428" cy="2600648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3E1922D1-5F79-DB6A-441C-DB414EED4DAB}"/>
              </a:ext>
            </a:extLst>
          </p:cNvPr>
          <p:cNvSpPr/>
          <p:nvPr/>
        </p:nvSpPr>
        <p:spPr>
          <a:xfrm>
            <a:off x="9608457" y="11398418"/>
            <a:ext cx="4528457" cy="150478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(6).</a:t>
            </a:r>
          </a:p>
          <a:p>
            <a:pPr algn="ctr">
              <a:lnSpc>
                <a:spcPct val="150000"/>
              </a:lnSpc>
            </a:pPr>
            <a:r>
              <a:rPr lang="en-US" sz="1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extraction and comparison</a:t>
            </a:r>
            <a:br>
              <a:rPr lang="en-US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(Opened stations, charger sizes, deployment pattern, objective values)</a:t>
            </a:r>
            <a:endParaRPr lang="en-US" sz="1700" i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D06C845-4C6D-4B2C-D5C0-D1DE4E5D628D}"/>
              </a:ext>
            </a:extLst>
          </p:cNvPr>
          <p:cNvCxnSpPr>
            <a:stCxn id="33" idx="2"/>
            <a:endCxn id="9" idx="0"/>
          </p:cNvCxnSpPr>
          <p:nvPr/>
        </p:nvCxnSpPr>
        <p:spPr>
          <a:xfrm>
            <a:off x="11872686" y="5110905"/>
            <a:ext cx="0" cy="58942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1F5EDA31-5A12-1CD8-00BC-3E4EB6BAC209}"/>
              </a:ext>
            </a:extLst>
          </p:cNvPr>
          <p:cNvCxnSpPr>
            <a:cxnSpLocks/>
            <a:stCxn id="10" idx="2"/>
            <a:endCxn id="18" idx="1"/>
          </p:cNvCxnSpPr>
          <p:nvPr/>
        </p:nvCxnSpPr>
        <p:spPr>
          <a:xfrm rot="16200000" flipH="1">
            <a:off x="8764056" y="11306409"/>
            <a:ext cx="1341820" cy="346982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328126A7-76A1-12BE-0866-C9D36ECF644D}"/>
              </a:ext>
            </a:extLst>
          </p:cNvPr>
          <p:cNvCxnSpPr>
            <a:cxnSpLocks/>
            <a:stCxn id="11" idx="2"/>
            <a:endCxn id="18" idx="3"/>
          </p:cNvCxnSpPr>
          <p:nvPr/>
        </p:nvCxnSpPr>
        <p:spPr>
          <a:xfrm rot="5400000">
            <a:off x="13634214" y="11311690"/>
            <a:ext cx="1341820" cy="336420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EFC77C2-4791-6AEA-4F02-C141F565D036}"/>
              </a:ext>
            </a:extLst>
          </p:cNvPr>
          <p:cNvCxnSpPr>
            <a:cxnSpLocks/>
            <a:stCxn id="18" idx="2"/>
            <a:endCxn id="119" idx="0"/>
          </p:cNvCxnSpPr>
          <p:nvPr/>
        </p:nvCxnSpPr>
        <p:spPr>
          <a:xfrm flipH="1">
            <a:off x="11872684" y="12903201"/>
            <a:ext cx="2" cy="40161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2482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9823A-A988-FCD4-9497-D921F80A3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21AFDD6-1D8F-271A-9C34-34EBCBE4027F}"/>
              </a:ext>
            </a:extLst>
          </p:cNvPr>
          <p:cNvSpPr/>
          <p:nvPr/>
        </p:nvSpPr>
        <p:spPr>
          <a:xfrm>
            <a:off x="9188450" y="1355090"/>
            <a:ext cx="8864600" cy="16256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lowchart: Terminator 2">
            <a:extLst>
              <a:ext uri="{FF2B5EF4-FFF2-40B4-BE49-F238E27FC236}">
                <a16:creationId xmlns:a16="http://schemas.microsoft.com/office/drawing/2014/main" id="{E286FCBB-34D7-A4CC-B870-DB0B09D94864}"/>
              </a:ext>
            </a:extLst>
          </p:cNvPr>
          <p:cNvSpPr/>
          <p:nvPr/>
        </p:nvSpPr>
        <p:spPr>
          <a:xfrm>
            <a:off x="12958961" y="517980"/>
            <a:ext cx="1323577" cy="470738"/>
          </a:xfrm>
          <a:prstGeom prst="flowChartTerminator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(1).</a:t>
            </a:r>
          </a:p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Bắt đầu</a:t>
            </a:r>
            <a:endParaRPr lang="en-AU" sz="17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DF3440-13E7-34FE-D20A-6EA185F83962}"/>
              </a:ext>
            </a:extLst>
          </p:cNvPr>
          <p:cNvSpPr/>
          <p:nvPr/>
        </p:nvSpPr>
        <p:spPr>
          <a:xfrm>
            <a:off x="9378949" y="2009140"/>
            <a:ext cx="2244645" cy="863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 tham số:</a:t>
            </a:r>
          </a:p>
          <a:p>
            <a:pPr algn="ctr"/>
            <a:endParaRPr lang="en-US" sz="17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AU" sz="17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B1C97F3A-23BD-FD4E-FF35-431EF41FB2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232948"/>
              </p:ext>
            </p:extLst>
          </p:nvPr>
        </p:nvGraphicFramePr>
        <p:xfrm>
          <a:off x="9505949" y="2326929"/>
          <a:ext cx="1968181" cy="2854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63560" imgH="241200" progId="Equation.DSMT4">
                  <p:embed/>
                </p:oleObj>
              </mc:Choice>
              <mc:Fallback>
                <p:oleObj name="Equation" r:id="rId2" imgW="1663560" imgH="24120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34F23E1D-AF72-9052-3512-7EC761DA83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505949" y="2326929"/>
                        <a:ext cx="1968181" cy="2854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92037171-4390-558B-A99F-A84E81AF88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17134"/>
              </p:ext>
            </p:extLst>
          </p:nvPr>
        </p:nvGraphicFramePr>
        <p:xfrm>
          <a:off x="9577070" y="2581190"/>
          <a:ext cx="1860550" cy="23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12800" imgH="203040" progId="Equation.DSMT4">
                  <p:embed/>
                </p:oleObj>
              </mc:Choice>
              <mc:Fallback>
                <p:oleObj name="Equation" r:id="rId4" imgW="1612800" imgH="20304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CC5EF7DE-5735-BB1A-EB34-B684FAE2FD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577070" y="2581190"/>
                        <a:ext cx="1860550" cy="23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5B066792-5356-44BB-A76F-F7CA95EA324B}"/>
              </a:ext>
            </a:extLst>
          </p:cNvPr>
          <p:cNvSpPr/>
          <p:nvPr/>
        </p:nvSpPr>
        <p:spPr>
          <a:xfrm>
            <a:off x="11782345" y="2009140"/>
            <a:ext cx="1663700" cy="863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Giới hạn trụ tại từng trạm</a:t>
            </a:r>
          </a:p>
          <a:p>
            <a:pPr algn="ctr"/>
            <a:endParaRPr lang="en-AU" sz="17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83EFAB29-6022-E7CF-2DFF-89C9C9389C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7101150"/>
              </p:ext>
            </p:extLst>
          </p:nvPr>
        </p:nvGraphicFramePr>
        <p:xfrm>
          <a:off x="12268754" y="2541139"/>
          <a:ext cx="677625" cy="3049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07960" imgH="228600" progId="Equation.DSMT4">
                  <p:embed/>
                </p:oleObj>
              </mc:Choice>
              <mc:Fallback>
                <p:oleObj name="Equation" r:id="rId6" imgW="507960" imgH="22860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578A9A9F-B87A-8AE5-3D9F-3437AAFA52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2268754" y="2541139"/>
                        <a:ext cx="677625" cy="3049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3CB03762-B49D-598D-3F31-A57D74C55331}"/>
              </a:ext>
            </a:extLst>
          </p:cNvPr>
          <p:cNvSpPr/>
          <p:nvPr/>
        </p:nvSpPr>
        <p:spPr>
          <a:xfrm>
            <a:off x="13931740" y="2009140"/>
            <a:ext cx="1663700" cy="863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 trận khoảng cách</a:t>
            </a:r>
          </a:p>
          <a:p>
            <a:pPr algn="ctr"/>
            <a:endParaRPr lang="en-AU" sz="17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361B52F8-41A9-C8CE-B303-013262EDD2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1854222"/>
              </p:ext>
            </p:extLst>
          </p:nvPr>
        </p:nvGraphicFramePr>
        <p:xfrm>
          <a:off x="14377510" y="2557606"/>
          <a:ext cx="786290" cy="2859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58720" imgH="203040" progId="Equation.DSMT4">
                  <p:embed/>
                </p:oleObj>
              </mc:Choice>
              <mc:Fallback>
                <p:oleObj name="Equation" r:id="rId8" imgW="558720" imgH="203040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75EBD2E6-05C3-5A40-A977-6DE6B694D6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4377510" y="2557606"/>
                        <a:ext cx="786290" cy="2859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0FD7D552-D370-46D9-04F1-3D1257465E19}"/>
              </a:ext>
            </a:extLst>
          </p:cNvPr>
          <p:cNvSpPr/>
          <p:nvPr/>
        </p:nvSpPr>
        <p:spPr>
          <a:xfrm>
            <a:off x="16081135" y="2009140"/>
            <a:ext cx="1663700" cy="863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Điểm nhu cầu sạc</a:t>
            </a:r>
          </a:p>
          <a:p>
            <a:pPr algn="ctr"/>
            <a:endParaRPr lang="en-AU" sz="17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BED8DFAA-3B19-6629-216E-1E41B0FFAA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3240127"/>
              </p:ext>
            </p:extLst>
          </p:nvPr>
        </p:nvGraphicFramePr>
        <p:xfrm>
          <a:off x="16787255" y="2563586"/>
          <a:ext cx="258686" cy="3104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0440" imgH="228600" progId="Equation.DSMT4">
                  <p:embed/>
                </p:oleObj>
              </mc:Choice>
              <mc:Fallback>
                <p:oleObj name="Equation" r:id="rId10" imgW="190440" imgH="228600" progId="Equation.DSMT4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33E351AB-0322-1682-24BB-3C832D8110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6787255" y="2563586"/>
                        <a:ext cx="258686" cy="3104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CD8DC76A-2CB0-E40D-FC66-EB595D186A50}"/>
              </a:ext>
            </a:extLst>
          </p:cNvPr>
          <p:cNvSpPr txBox="1"/>
          <p:nvPr/>
        </p:nvSpPr>
        <p:spPr>
          <a:xfrm>
            <a:off x="11920538" y="1422904"/>
            <a:ext cx="359092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>
                <a:latin typeface="Arial" panose="020B0604020202020204" pitchFamily="34" charset="0"/>
                <a:cs typeface="Arial" panose="020B0604020202020204" pitchFamily="34" charset="0"/>
              </a:rPr>
              <a:t>(2).</a:t>
            </a:r>
          </a:p>
          <a:p>
            <a:pPr algn="ctr"/>
            <a:r>
              <a:rPr lang="en-US" sz="1700">
                <a:latin typeface="Arial" panose="020B0604020202020204" pitchFamily="34" charset="0"/>
                <a:cs typeface="Arial" panose="020B0604020202020204" pitchFamily="34" charset="0"/>
              </a:rPr>
              <a:t>Chuẩn hóa dữ liệu đầu vào</a:t>
            </a:r>
            <a:endParaRPr lang="en-AU" sz="1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ABE4091-411E-02BF-2B7C-39092AAFCFF0}"/>
              </a:ext>
            </a:extLst>
          </p:cNvPr>
          <p:cNvSpPr/>
          <p:nvPr/>
        </p:nvSpPr>
        <p:spPr>
          <a:xfrm>
            <a:off x="11990785" y="4807610"/>
            <a:ext cx="3383279" cy="914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(4).</a:t>
            </a:r>
          </a:p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Vòng lặp tối ưu</a:t>
            </a:r>
            <a:endParaRPr lang="en-AU" sz="17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3104587-D947-BEE4-755B-B7C6CF4E4DD6}"/>
              </a:ext>
            </a:extLst>
          </p:cNvPr>
          <p:cNvSpPr/>
          <p:nvPr/>
        </p:nvSpPr>
        <p:spPr>
          <a:xfrm>
            <a:off x="11990785" y="7481174"/>
            <a:ext cx="3383279" cy="914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(6).</a:t>
            </a:r>
          </a:p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Greedy Repair</a:t>
            </a:r>
          </a:p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Sửa nghiệm</a:t>
            </a:r>
          </a:p>
        </p:txBody>
      </p:sp>
      <p:graphicFrame>
        <p:nvGraphicFramePr>
          <p:cNvPr id="40" name="Object 39">
            <a:extLst>
              <a:ext uri="{FF2B5EF4-FFF2-40B4-BE49-F238E27FC236}">
                <a16:creationId xmlns:a16="http://schemas.microsoft.com/office/drawing/2014/main" id="{C97E461C-FE65-0C08-CEA9-D128F7A740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0119559"/>
              </p:ext>
            </p:extLst>
          </p:nvPr>
        </p:nvGraphicFramePr>
        <p:xfrm>
          <a:off x="14319091" y="8052381"/>
          <a:ext cx="562212" cy="2811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06080" imgH="203040" progId="Equation.DSMT4">
                  <p:embed/>
                </p:oleObj>
              </mc:Choice>
              <mc:Fallback>
                <p:oleObj name="Equation" r:id="rId12" imgW="406080" imgH="203040" progId="Equation.DSMT4">
                  <p:embed/>
                  <p:pic>
                    <p:nvPicPr>
                      <p:cNvPr id="40" name="Object 39">
                        <a:extLst>
                          <a:ext uri="{FF2B5EF4-FFF2-40B4-BE49-F238E27FC236}">
                            <a16:creationId xmlns:a16="http://schemas.microsoft.com/office/drawing/2014/main" id="{DC94E03F-907A-7E11-ED71-D28AF2895D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4319091" y="8052381"/>
                        <a:ext cx="562212" cy="2811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Rectangle 41">
            <a:extLst>
              <a:ext uri="{FF2B5EF4-FFF2-40B4-BE49-F238E27FC236}">
                <a16:creationId xmlns:a16="http://schemas.microsoft.com/office/drawing/2014/main" id="{DC698A92-FBBC-4783-3D04-A8AD106A18AA}"/>
              </a:ext>
            </a:extLst>
          </p:cNvPr>
          <p:cNvSpPr/>
          <p:nvPr/>
        </p:nvSpPr>
        <p:spPr>
          <a:xfrm>
            <a:off x="16422368" y="6169139"/>
            <a:ext cx="3383278" cy="914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(8).</a:t>
            </a:r>
          </a:p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Đánh giá nghiệm</a:t>
            </a:r>
          </a:p>
          <a:p>
            <a:pPr algn="ctr"/>
            <a:r>
              <a:rPr lang="en-AU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F1, F2, F3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703133C-A36A-9A62-8E57-1E10FBB44A85}"/>
              </a:ext>
            </a:extLst>
          </p:cNvPr>
          <p:cNvSpPr/>
          <p:nvPr/>
        </p:nvSpPr>
        <p:spPr>
          <a:xfrm>
            <a:off x="11990785" y="3495926"/>
            <a:ext cx="3383279" cy="91661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(3).</a:t>
            </a:r>
          </a:p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Khởi tạo quần thể</a:t>
            </a:r>
          </a:p>
          <a:p>
            <a:pPr algn="ctr"/>
            <a:r>
              <a:rPr lang="en-AU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(CSP: z, số trụ: y)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0CAF9FF-374A-C100-5DA0-D1B996F9528E}"/>
              </a:ext>
            </a:extLst>
          </p:cNvPr>
          <p:cNvSpPr/>
          <p:nvPr/>
        </p:nvSpPr>
        <p:spPr>
          <a:xfrm>
            <a:off x="16422367" y="10007801"/>
            <a:ext cx="3380183" cy="914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(11).</a:t>
            </a:r>
          </a:p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Nghiệm hạt giống tốt nhất</a:t>
            </a:r>
          </a:p>
          <a:p>
            <a:pPr algn="ctr"/>
            <a:endParaRPr lang="en-AU" sz="17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2197D274-AE7B-D62F-E1EC-3CCCB3FFB7A4}"/>
              </a:ext>
            </a:extLst>
          </p:cNvPr>
          <p:cNvCxnSpPr>
            <a:cxnSpLocks/>
            <a:stCxn id="4" idx="2"/>
            <a:endCxn id="46" idx="0"/>
          </p:cNvCxnSpPr>
          <p:nvPr/>
        </p:nvCxnSpPr>
        <p:spPr>
          <a:xfrm rot="16200000" flipH="1">
            <a:off x="11780255" y="1593756"/>
            <a:ext cx="623186" cy="3181153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CDC8BDF2-E73D-4803-CC7F-53B18425FBFC}"/>
              </a:ext>
            </a:extLst>
          </p:cNvPr>
          <p:cNvCxnSpPr>
            <a:cxnSpLocks/>
            <a:stCxn id="7" idx="2"/>
            <a:endCxn id="46" idx="0"/>
          </p:cNvCxnSpPr>
          <p:nvPr/>
        </p:nvCxnSpPr>
        <p:spPr>
          <a:xfrm rot="16200000" flipH="1">
            <a:off x="12836717" y="2650218"/>
            <a:ext cx="623186" cy="1068230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1C1DDE7D-A046-6C90-9196-1066703FD34A}"/>
              </a:ext>
            </a:extLst>
          </p:cNvPr>
          <p:cNvCxnSpPr>
            <a:cxnSpLocks/>
            <a:stCxn id="9" idx="2"/>
            <a:endCxn id="46" idx="0"/>
          </p:cNvCxnSpPr>
          <p:nvPr/>
        </p:nvCxnSpPr>
        <p:spPr>
          <a:xfrm rot="5400000">
            <a:off x="13911415" y="2643751"/>
            <a:ext cx="623186" cy="1081165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32FC81DC-6BAB-7EB1-2753-A4BBEB644D06}"/>
              </a:ext>
            </a:extLst>
          </p:cNvPr>
          <p:cNvCxnSpPr>
            <a:cxnSpLocks/>
            <a:stCxn id="11" idx="2"/>
            <a:endCxn id="46" idx="0"/>
          </p:cNvCxnSpPr>
          <p:nvPr/>
        </p:nvCxnSpPr>
        <p:spPr>
          <a:xfrm rot="5400000">
            <a:off x="14986112" y="1569053"/>
            <a:ext cx="623186" cy="3230560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1" name="Object 60">
            <a:extLst>
              <a:ext uri="{FF2B5EF4-FFF2-40B4-BE49-F238E27FC236}">
                <a16:creationId xmlns:a16="http://schemas.microsoft.com/office/drawing/2014/main" id="{64D07772-0CD5-693D-6146-C9694E006A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1060500"/>
              </p:ext>
            </p:extLst>
          </p:nvPr>
        </p:nvGraphicFramePr>
        <p:xfrm>
          <a:off x="17375343" y="10579081"/>
          <a:ext cx="1499549" cy="3291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41120" imgH="228600" progId="Equation.DSMT4">
                  <p:embed/>
                </p:oleObj>
              </mc:Choice>
              <mc:Fallback>
                <p:oleObj name="Equation" r:id="rId14" imgW="1041120" imgH="228600" progId="Equation.DSMT4">
                  <p:embed/>
                  <p:pic>
                    <p:nvPicPr>
                      <p:cNvPr id="61" name="Object 60">
                        <a:extLst>
                          <a:ext uri="{FF2B5EF4-FFF2-40B4-BE49-F238E27FC236}">
                            <a16:creationId xmlns:a16="http://schemas.microsoft.com/office/drawing/2014/main" id="{CEC58BF9-3A88-0CDC-1BB9-D313792187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7375343" y="10579081"/>
                        <a:ext cx="1499549" cy="3291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63EE0DE8-36EC-691B-7F05-569443CFAAC2}"/>
              </a:ext>
            </a:extLst>
          </p:cNvPr>
          <p:cNvCxnSpPr>
            <a:cxnSpLocks/>
            <a:stCxn id="3" idx="2"/>
            <a:endCxn id="13" idx="0"/>
          </p:cNvCxnSpPr>
          <p:nvPr/>
        </p:nvCxnSpPr>
        <p:spPr>
          <a:xfrm>
            <a:off x="13620750" y="988718"/>
            <a:ext cx="0" cy="36637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Diamond 52">
            <a:extLst>
              <a:ext uri="{FF2B5EF4-FFF2-40B4-BE49-F238E27FC236}">
                <a16:creationId xmlns:a16="http://schemas.microsoft.com/office/drawing/2014/main" id="{B5EF9C4F-A5C0-4F31-1589-3C96409C8028}"/>
              </a:ext>
            </a:extLst>
          </p:cNvPr>
          <p:cNvSpPr/>
          <p:nvPr/>
        </p:nvSpPr>
        <p:spPr>
          <a:xfrm>
            <a:off x="11993880" y="8790646"/>
            <a:ext cx="3383280" cy="883920"/>
          </a:xfrm>
          <a:prstGeom prst="diamond">
            <a:avLst/>
          </a:prstGeom>
          <a:solidFill>
            <a:schemeClr val="accent4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(7).</a:t>
            </a:r>
          </a:p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Kiểm tra ràng buộc</a:t>
            </a:r>
            <a:endParaRPr lang="en-AU" sz="17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A3C2E75-459A-274B-DCD7-5557E4D45754}"/>
              </a:ext>
            </a:extLst>
          </p:cNvPr>
          <p:cNvSpPr/>
          <p:nvPr/>
        </p:nvSpPr>
        <p:spPr>
          <a:xfrm>
            <a:off x="16422368" y="7525499"/>
            <a:ext cx="3383278" cy="914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(9).</a:t>
            </a:r>
          </a:p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Cập nhật PSO</a:t>
            </a:r>
          </a:p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(pbest/gbest)</a:t>
            </a:r>
            <a:endParaRPr lang="en-AU" sz="17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Diamond 65">
            <a:extLst>
              <a:ext uri="{FF2B5EF4-FFF2-40B4-BE49-F238E27FC236}">
                <a16:creationId xmlns:a16="http://schemas.microsoft.com/office/drawing/2014/main" id="{6F8B420C-F7B7-B4B0-3E2C-175AC148DE40}"/>
              </a:ext>
            </a:extLst>
          </p:cNvPr>
          <p:cNvSpPr/>
          <p:nvPr/>
        </p:nvSpPr>
        <p:spPr>
          <a:xfrm>
            <a:off x="16425462" y="8772945"/>
            <a:ext cx="3380183" cy="883920"/>
          </a:xfrm>
          <a:prstGeom prst="diamond">
            <a:avLst/>
          </a:prstGeom>
          <a:solidFill>
            <a:schemeClr val="accent4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(10).</a:t>
            </a:r>
          </a:p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Đạt điều kiện dừng?</a:t>
            </a:r>
            <a:endParaRPr lang="en-AU" sz="17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BBC84831-B3A2-B1FE-5507-B0ED4B0F5EC6}"/>
              </a:ext>
            </a:extLst>
          </p:cNvPr>
          <p:cNvCxnSpPr>
            <a:cxnSpLocks/>
            <a:stCxn id="66" idx="3"/>
            <a:endCxn id="38" idx="3"/>
          </p:cNvCxnSpPr>
          <p:nvPr/>
        </p:nvCxnSpPr>
        <p:spPr>
          <a:xfrm flipH="1" flipV="1">
            <a:off x="15374064" y="5264810"/>
            <a:ext cx="4431581" cy="3950095"/>
          </a:xfrm>
          <a:prstGeom prst="bentConnector3">
            <a:avLst>
              <a:gd name="adj1" fmla="val -18054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0107EF45-23CB-B9B9-D4CF-5A2716B8CE34}"/>
              </a:ext>
            </a:extLst>
          </p:cNvPr>
          <p:cNvCxnSpPr>
            <a:cxnSpLocks/>
            <a:stCxn id="42" idx="2"/>
            <a:endCxn id="64" idx="0"/>
          </p:cNvCxnSpPr>
          <p:nvPr/>
        </p:nvCxnSpPr>
        <p:spPr>
          <a:xfrm>
            <a:off x="18114007" y="7083539"/>
            <a:ext cx="0" cy="44196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550A815A-1682-EE41-21F7-E987987C38A3}"/>
              </a:ext>
            </a:extLst>
          </p:cNvPr>
          <p:cNvCxnSpPr>
            <a:cxnSpLocks/>
            <a:stCxn id="46" idx="2"/>
            <a:endCxn id="38" idx="0"/>
          </p:cNvCxnSpPr>
          <p:nvPr/>
        </p:nvCxnSpPr>
        <p:spPr>
          <a:xfrm>
            <a:off x="13682425" y="4412538"/>
            <a:ext cx="0" cy="39507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Rectangle 126">
            <a:extLst>
              <a:ext uri="{FF2B5EF4-FFF2-40B4-BE49-F238E27FC236}">
                <a16:creationId xmlns:a16="http://schemas.microsoft.com/office/drawing/2014/main" id="{C7BE77B4-CF2F-28C9-D787-A2507D0060EE}"/>
              </a:ext>
            </a:extLst>
          </p:cNvPr>
          <p:cNvSpPr/>
          <p:nvPr/>
        </p:nvSpPr>
        <p:spPr>
          <a:xfrm>
            <a:off x="11990785" y="6169139"/>
            <a:ext cx="3383279" cy="914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(5).</a:t>
            </a:r>
          </a:p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Cập nhật vận tốc và vị trí</a:t>
            </a:r>
            <a:endParaRPr lang="en-AU" sz="17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9AC2CC6-2540-3362-6DA0-DC4EBAAB519C}"/>
              </a:ext>
            </a:extLst>
          </p:cNvPr>
          <p:cNvCxnSpPr>
            <a:cxnSpLocks/>
            <a:stCxn id="66" idx="2"/>
            <a:endCxn id="49" idx="0"/>
          </p:cNvCxnSpPr>
          <p:nvPr/>
        </p:nvCxnSpPr>
        <p:spPr>
          <a:xfrm flipH="1">
            <a:off x="18112459" y="9656865"/>
            <a:ext cx="3095" cy="3509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Flowchart: Terminator 50">
            <a:extLst>
              <a:ext uri="{FF2B5EF4-FFF2-40B4-BE49-F238E27FC236}">
                <a16:creationId xmlns:a16="http://schemas.microsoft.com/office/drawing/2014/main" id="{7486AE11-EFA0-FA87-F19A-C790F0A81EAF}"/>
              </a:ext>
            </a:extLst>
          </p:cNvPr>
          <p:cNvSpPr/>
          <p:nvPr/>
        </p:nvSpPr>
        <p:spPr>
          <a:xfrm>
            <a:off x="17450669" y="11291520"/>
            <a:ext cx="1323577" cy="470738"/>
          </a:xfrm>
          <a:prstGeom prst="flowChartTerminator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(12).</a:t>
            </a:r>
          </a:p>
          <a:p>
            <a:pPr algn="ctr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 thúc</a:t>
            </a:r>
            <a:endParaRPr lang="en-AU" sz="17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D920D49-ADC8-07F7-4C07-501683B1484B}"/>
              </a:ext>
            </a:extLst>
          </p:cNvPr>
          <p:cNvCxnSpPr>
            <a:cxnSpLocks/>
            <a:stCxn id="49" idx="2"/>
            <a:endCxn id="51" idx="0"/>
          </p:cNvCxnSpPr>
          <p:nvPr/>
        </p:nvCxnSpPr>
        <p:spPr>
          <a:xfrm flipH="1">
            <a:off x="18112458" y="10922201"/>
            <a:ext cx="1" cy="36931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C461F47-E93E-72FB-1FC5-DFC1FC48559C}"/>
              </a:ext>
            </a:extLst>
          </p:cNvPr>
          <p:cNvCxnSpPr>
            <a:cxnSpLocks/>
            <a:stCxn id="64" idx="2"/>
            <a:endCxn id="66" idx="0"/>
          </p:cNvCxnSpPr>
          <p:nvPr/>
        </p:nvCxnSpPr>
        <p:spPr>
          <a:xfrm>
            <a:off x="18114007" y="8439899"/>
            <a:ext cx="1547" cy="33304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6E31AB89-3B72-D997-14D3-E0F35FC04019}"/>
              </a:ext>
            </a:extLst>
          </p:cNvPr>
          <p:cNvCxnSpPr>
            <a:cxnSpLocks/>
            <a:stCxn id="53" idx="1"/>
            <a:endCxn id="39" idx="1"/>
          </p:cNvCxnSpPr>
          <p:nvPr/>
        </p:nvCxnSpPr>
        <p:spPr>
          <a:xfrm rot="10800000">
            <a:off x="11990786" y="7938374"/>
            <a:ext cx="3095" cy="1294232"/>
          </a:xfrm>
          <a:prstGeom prst="bentConnector3">
            <a:avLst>
              <a:gd name="adj1" fmla="val 29527173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4E08424-BF9B-DDDC-46ED-59F657B31EE1}"/>
              </a:ext>
            </a:extLst>
          </p:cNvPr>
          <p:cNvCxnSpPr>
            <a:cxnSpLocks/>
            <a:stCxn id="39" idx="2"/>
            <a:endCxn id="53" idx="0"/>
          </p:cNvCxnSpPr>
          <p:nvPr/>
        </p:nvCxnSpPr>
        <p:spPr>
          <a:xfrm>
            <a:off x="13682425" y="8395574"/>
            <a:ext cx="3095" cy="39507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D6468B3F-D186-F46E-5A4D-3449B532D612}"/>
              </a:ext>
            </a:extLst>
          </p:cNvPr>
          <p:cNvCxnSpPr>
            <a:cxnSpLocks/>
            <a:stCxn id="38" idx="2"/>
            <a:endCxn id="127" idx="0"/>
          </p:cNvCxnSpPr>
          <p:nvPr/>
        </p:nvCxnSpPr>
        <p:spPr>
          <a:xfrm>
            <a:off x="13682425" y="5722010"/>
            <a:ext cx="0" cy="44712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D35A05B0-2667-F65F-86DB-6AB15D4D4FB6}"/>
              </a:ext>
            </a:extLst>
          </p:cNvPr>
          <p:cNvCxnSpPr>
            <a:cxnSpLocks/>
            <a:stCxn id="127" idx="2"/>
            <a:endCxn id="39" idx="0"/>
          </p:cNvCxnSpPr>
          <p:nvPr/>
        </p:nvCxnSpPr>
        <p:spPr>
          <a:xfrm>
            <a:off x="13682425" y="7083539"/>
            <a:ext cx="0" cy="39763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9F79DD75-0CCB-CB25-266D-EFD5B9713C1D}"/>
              </a:ext>
            </a:extLst>
          </p:cNvPr>
          <p:cNvSpPr txBox="1"/>
          <p:nvPr/>
        </p:nvSpPr>
        <p:spPr>
          <a:xfrm>
            <a:off x="18671693" y="8866895"/>
            <a:ext cx="287377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z="1700">
                <a:latin typeface="Arial" panose="020B0604020202020204" pitchFamily="34" charset="0"/>
                <a:cs typeface="Arial" panose="020B0604020202020204" pitchFamily="34" charset="0"/>
              </a:rPr>
              <a:t>Chưa đạt</a:t>
            </a:r>
            <a:endParaRPr lang="en-AU" sz="1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C382969-D8B6-8035-7BA2-0F7B49E964DF}"/>
              </a:ext>
            </a:extLst>
          </p:cNvPr>
          <p:cNvSpPr txBox="1"/>
          <p:nvPr/>
        </p:nvSpPr>
        <p:spPr>
          <a:xfrm>
            <a:off x="16364899" y="9609679"/>
            <a:ext cx="287377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>
                <a:latin typeface="Arial" panose="020B0604020202020204" pitchFamily="34" charset="0"/>
                <a:cs typeface="Arial" panose="020B0604020202020204" pitchFamily="34" charset="0"/>
              </a:rPr>
              <a:t>Đạt</a:t>
            </a:r>
            <a:endParaRPr lang="en-AU" sz="1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1A3DF36C-E223-A4BF-0491-4F6893822FDA}"/>
              </a:ext>
            </a:extLst>
          </p:cNvPr>
          <p:cNvSpPr txBox="1"/>
          <p:nvPr/>
        </p:nvSpPr>
        <p:spPr>
          <a:xfrm>
            <a:off x="14169033" y="8852774"/>
            <a:ext cx="287377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z="1700">
                <a:latin typeface="Arial" panose="020B0604020202020204" pitchFamily="34" charset="0"/>
                <a:cs typeface="Arial" panose="020B0604020202020204" pitchFamily="34" charset="0"/>
              </a:rPr>
              <a:t>Đạt</a:t>
            </a:r>
            <a:endParaRPr lang="en-AU" sz="1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FECDB49-738F-4D21-A157-5E1B74DB518F}"/>
              </a:ext>
            </a:extLst>
          </p:cNvPr>
          <p:cNvSpPr txBox="1"/>
          <p:nvPr/>
        </p:nvSpPr>
        <p:spPr>
          <a:xfrm>
            <a:off x="10121744" y="8908240"/>
            <a:ext cx="287377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z="1700">
                <a:latin typeface="Arial" panose="020B0604020202020204" pitchFamily="34" charset="0"/>
                <a:cs typeface="Arial" panose="020B0604020202020204" pitchFamily="34" charset="0"/>
              </a:rPr>
              <a:t>Chưa đạt</a:t>
            </a:r>
            <a:endParaRPr lang="en-AU" sz="1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BA256DDA-2F02-253B-C74B-B92A74EFADD7}"/>
              </a:ext>
            </a:extLst>
          </p:cNvPr>
          <p:cNvCxnSpPr>
            <a:cxnSpLocks/>
            <a:stCxn id="53" idx="3"/>
            <a:endCxn id="42" idx="1"/>
          </p:cNvCxnSpPr>
          <p:nvPr/>
        </p:nvCxnSpPr>
        <p:spPr>
          <a:xfrm flipV="1">
            <a:off x="15377160" y="6626339"/>
            <a:ext cx="1045208" cy="2606267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8231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B13FE-2439-0D03-6B9C-811E797E0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roup 125">
            <a:extLst>
              <a:ext uri="{FF2B5EF4-FFF2-40B4-BE49-F238E27FC236}">
                <a16:creationId xmlns:a16="http://schemas.microsoft.com/office/drawing/2014/main" id="{04761576-2414-0367-753C-AAABBA9F7E69}"/>
              </a:ext>
            </a:extLst>
          </p:cNvPr>
          <p:cNvGrpSpPr/>
          <p:nvPr/>
        </p:nvGrpSpPr>
        <p:grpSpPr>
          <a:xfrm>
            <a:off x="5341045" y="5072633"/>
            <a:ext cx="13549510" cy="8142734"/>
            <a:chOff x="5341045" y="5072633"/>
            <a:chExt cx="13549510" cy="8142734"/>
          </a:xfrm>
        </p:grpSpPr>
        <p:sp>
          <p:nvSpPr>
            <p:cNvPr id="2" name="Flowchart: Terminator 1">
              <a:extLst>
                <a:ext uri="{FF2B5EF4-FFF2-40B4-BE49-F238E27FC236}">
                  <a16:creationId xmlns:a16="http://schemas.microsoft.com/office/drawing/2014/main" id="{1A38BB9B-75B5-3216-5B19-F16CD4CE2A48}"/>
                </a:ext>
              </a:extLst>
            </p:cNvPr>
            <p:cNvSpPr/>
            <p:nvPr/>
          </p:nvSpPr>
          <p:spPr>
            <a:xfrm>
              <a:off x="6001770" y="5272712"/>
              <a:ext cx="2531227" cy="1007283"/>
            </a:xfrm>
            <a:prstGeom prst="flowChartTerminator">
              <a:avLst/>
            </a:prstGeom>
            <a:solidFill>
              <a:schemeClr val="accent4">
                <a:lumMod val="60000"/>
                <a:lumOff val="4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Bắt đầu</a:t>
              </a:r>
              <a:endParaRPr lang="en-AU"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55C7E3F-AE8B-971F-9A7F-85B8D379114C}"/>
                </a:ext>
              </a:extLst>
            </p:cNvPr>
            <p:cNvSpPr/>
            <p:nvPr/>
          </p:nvSpPr>
          <p:spPr>
            <a:xfrm>
              <a:off x="5341045" y="7157169"/>
              <a:ext cx="3852677" cy="1535485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Thu thập dữ liệu lịch sử</a:t>
              </a:r>
              <a:endParaRPr lang="en-AU"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1BCD849-D136-90F9-2248-3B5540E3BEFE}"/>
                </a:ext>
              </a:extLst>
            </p:cNvPr>
            <p:cNvSpPr/>
            <p:nvPr/>
          </p:nvSpPr>
          <p:spPr>
            <a:xfrm>
              <a:off x="5341045" y="9306853"/>
              <a:ext cx="3857330" cy="1535485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Thiết lập dữ liệu </a:t>
              </a:r>
            </a:p>
            <a:p>
              <a:pPr algn="ctr"/>
              <a:r>
                <a:rPr lang="en-US" sz="3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X: Biến thời gian</a:t>
              </a:r>
            </a:p>
            <a:p>
              <a:pPr algn="ctr"/>
              <a:r>
                <a:rPr lang="en-US" sz="3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Y: Chỉ tiêu dự báo</a:t>
              </a:r>
              <a:endParaRPr lang="en-AU"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0E8653D-2C78-CAF3-396F-19307A40EF4C}"/>
                </a:ext>
              </a:extLst>
            </p:cNvPr>
            <p:cNvSpPr/>
            <p:nvPr/>
          </p:nvSpPr>
          <p:spPr>
            <a:xfrm>
              <a:off x="10440723" y="5072633"/>
              <a:ext cx="2866238" cy="153549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Dân số</a:t>
              </a:r>
              <a:endParaRPr lang="en-AU"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86A33E8-784C-B0D9-0CF2-DE821EDDDFA4}"/>
                </a:ext>
              </a:extLst>
            </p:cNvPr>
            <p:cNvSpPr/>
            <p:nvPr/>
          </p:nvSpPr>
          <p:spPr>
            <a:xfrm>
              <a:off x="10440723" y="7157171"/>
              <a:ext cx="2866243" cy="153548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Khách du lịch</a:t>
              </a:r>
              <a:endParaRPr lang="en-AU"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1B18F01-E6B4-BF31-6FBE-FD7ACAE7FF92}"/>
                </a:ext>
              </a:extLst>
            </p:cNvPr>
            <p:cNvSpPr/>
            <p:nvPr/>
          </p:nvSpPr>
          <p:spPr>
            <a:xfrm>
              <a:off x="10440719" y="9297543"/>
              <a:ext cx="2866243" cy="153548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Phương tiện giao thông</a:t>
              </a:r>
              <a:endParaRPr lang="en-AU"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E1ECC02-9BB2-062E-1CB8-152DEF91ECBF}"/>
                </a:ext>
              </a:extLst>
            </p:cNvPr>
            <p:cNvSpPr/>
            <p:nvPr/>
          </p:nvSpPr>
          <p:spPr>
            <a:xfrm>
              <a:off x="14479519" y="5072633"/>
              <a:ext cx="4411036" cy="153549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Thiết lập phương trình hồi quy tuyến tính</a:t>
              </a:r>
              <a:endParaRPr lang="en-AU"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0E5B695-729D-3A58-1112-6311A55ED07C}"/>
                </a:ext>
              </a:extLst>
            </p:cNvPr>
            <p:cNvSpPr/>
            <p:nvPr/>
          </p:nvSpPr>
          <p:spPr>
            <a:xfrm>
              <a:off x="14479519" y="7157171"/>
              <a:ext cx="4411036" cy="153548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Tính toán giá trị dự báo</a:t>
              </a:r>
              <a:endParaRPr lang="en-AU"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41D22FB-7A7E-9FC5-EB0D-F919FC89E3D5}"/>
                </a:ext>
              </a:extLst>
            </p:cNvPr>
            <p:cNvSpPr/>
            <p:nvPr/>
          </p:nvSpPr>
          <p:spPr>
            <a:xfrm>
              <a:off x="14479519" y="9297541"/>
              <a:ext cx="4411036" cy="1535485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Kết quả dự báo</a:t>
              </a:r>
              <a:endParaRPr lang="en-AU"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A6C4034-3C17-6673-8AE8-6DE6C3507256}"/>
                </a:ext>
              </a:extLst>
            </p:cNvPr>
            <p:cNvSpPr/>
            <p:nvPr/>
          </p:nvSpPr>
          <p:spPr>
            <a:xfrm>
              <a:off x="10440723" y="11679882"/>
              <a:ext cx="2866238" cy="1535485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Phân tích và so sánh xu hướng</a:t>
              </a:r>
              <a:endParaRPr lang="en-AU"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EF14A2A6-9E25-83B4-411A-2AFFE462C970}"/>
                </a:ext>
              </a:extLst>
            </p:cNvPr>
            <p:cNvCxnSpPr>
              <a:cxnSpLocks/>
              <a:stCxn id="15" idx="2"/>
              <a:endCxn id="16" idx="0"/>
            </p:cNvCxnSpPr>
            <p:nvPr/>
          </p:nvCxnSpPr>
          <p:spPr>
            <a:xfrm>
              <a:off x="7267383" y="8692654"/>
              <a:ext cx="2326" cy="61419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97339228-6A75-902B-1E3A-9E2D6A75C32C}"/>
                </a:ext>
              </a:extLst>
            </p:cNvPr>
            <p:cNvCxnSpPr>
              <a:cxnSpLocks/>
              <a:stCxn id="21" idx="2"/>
              <a:endCxn id="22" idx="0"/>
            </p:cNvCxnSpPr>
            <p:nvPr/>
          </p:nvCxnSpPr>
          <p:spPr>
            <a:xfrm>
              <a:off x="16685037" y="6608126"/>
              <a:ext cx="0" cy="54904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9C891D09-86B8-D02E-AB38-A14336C8E668}"/>
                </a:ext>
              </a:extLst>
            </p:cNvPr>
            <p:cNvCxnSpPr>
              <a:cxnSpLocks/>
              <a:stCxn id="22" idx="2"/>
              <a:endCxn id="23" idx="0"/>
            </p:cNvCxnSpPr>
            <p:nvPr/>
          </p:nvCxnSpPr>
          <p:spPr>
            <a:xfrm>
              <a:off x="16685037" y="8692654"/>
              <a:ext cx="0" cy="60488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: Elbow 28">
              <a:extLst>
                <a:ext uri="{FF2B5EF4-FFF2-40B4-BE49-F238E27FC236}">
                  <a16:creationId xmlns:a16="http://schemas.microsoft.com/office/drawing/2014/main" id="{DE4570BB-F165-76CB-D3C4-A9051C1ECD43}"/>
                </a:ext>
              </a:extLst>
            </p:cNvPr>
            <p:cNvCxnSpPr>
              <a:cxnSpLocks/>
              <a:stCxn id="23" idx="2"/>
              <a:endCxn id="24" idx="3"/>
            </p:cNvCxnSpPr>
            <p:nvPr/>
          </p:nvCxnSpPr>
          <p:spPr>
            <a:xfrm rot="5400000">
              <a:off x="14188699" y="9951288"/>
              <a:ext cx="1614600" cy="3378076"/>
            </a:xfrm>
            <a:prstGeom prst="bentConnector2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lowchart: Terminator 29">
              <a:extLst>
                <a:ext uri="{FF2B5EF4-FFF2-40B4-BE49-F238E27FC236}">
                  <a16:creationId xmlns:a16="http://schemas.microsoft.com/office/drawing/2014/main" id="{FDB471F2-8CF9-6B9E-8748-A0BAFEE7F773}"/>
                </a:ext>
              </a:extLst>
            </p:cNvPr>
            <p:cNvSpPr/>
            <p:nvPr/>
          </p:nvSpPr>
          <p:spPr>
            <a:xfrm>
              <a:off x="6001770" y="11943985"/>
              <a:ext cx="2531227" cy="1007283"/>
            </a:xfrm>
            <a:prstGeom prst="flowChartTerminator">
              <a:avLst/>
            </a:prstGeom>
            <a:solidFill>
              <a:schemeClr val="accent4">
                <a:lumMod val="60000"/>
                <a:lumOff val="4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Kết thúc</a:t>
              </a:r>
              <a:endParaRPr lang="en-AU"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6DDEB2E4-183F-E3D8-46EB-F51A25C4C836}"/>
                </a:ext>
              </a:extLst>
            </p:cNvPr>
            <p:cNvCxnSpPr>
              <a:stCxn id="2" idx="2"/>
              <a:endCxn id="15" idx="0"/>
            </p:cNvCxnSpPr>
            <p:nvPr/>
          </p:nvCxnSpPr>
          <p:spPr>
            <a:xfrm>
              <a:off x="7267384" y="6279995"/>
              <a:ext cx="0" cy="87717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or: Elbow 108">
              <a:extLst>
                <a:ext uri="{FF2B5EF4-FFF2-40B4-BE49-F238E27FC236}">
                  <a16:creationId xmlns:a16="http://schemas.microsoft.com/office/drawing/2014/main" id="{FC9420A3-9E90-39C8-06B9-678326868120}"/>
                </a:ext>
              </a:extLst>
            </p:cNvPr>
            <p:cNvCxnSpPr>
              <a:stCxn id="16" idx="3"/>
              <a:endCxn id="17" idx="1"/>
            </p:cNvCxnSpPr>
            <p:nvPr/>
          </p:nvCxnSpPr>
          <p:spPr>
            <a:xfrm flipV="1">
              <a:off x="9198375" y="5840380"/>
              <a:ext cx="1242348" cy="4234216"/>
            </a:xfrm>
            <a:prstGeom prst="bentConnector3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or: Elbow 110">
              <a:extLst>
                <a:ext uri="{FF2B5EF4-FFF2-40B4-BE49-F238E27FC236}">
                  <a16:creationId xmlns:a16="http://schemas.microsoft.com/office/drawing/2014/main" id="{BE318998-0DC1-212D-6716-D00387BE92A3}"/>
                </a:ext>
              </a:extLst>
            </p:cNvPr>
            <p:cNvCxnSpPr>
              <a:stCxn id="16" idx="3"/>
              <a:endCxn id="18" idx="1"/>
            </p:cNvCxnSpPr>
            <p:nvPr/>
          </p:nvCxnSpPr>
          <p:spPr>
            <a:xfrm flipV="1">
              <a:off x="9198375" y="7924914"/>
              <a:ext cx="1242348" cy="2149682"/>
            </a:xfrm>
            <a:prstGeom prst="bentConnector3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273E4B4D-1497-B3B1-7F33-1BDB23DED27A}"/>
                </a:ext>
              </a:extLst>
            </p:cNvPr>
            <p:cNvCxnSpPr>
              <a:stCxn id="16" idx="3"/>
            </p:cNvCxnSpPr>
            <p:nvPr/>
          </p:nvCxnSpPr>
          <p:spPr>
            <a:xfrm>
              <a:off x="9198375" y="10074596"/>
              <a:ext cx="124234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Connector: Elbow 116">
              <a:extLst>
                <a:ext uri="{FF2B5EF4-FFF2-40B4-BE49-F238E27FC236}">
                  <a16:creationId xmlns:a16="http://schemas.microsoft.com/office/drawing/2014/main" id="{066EC466-ADF0-D60C-F091-43EEFE30143B}"/>
                </a:ext>
              </a:extLst>
            </p:cNvPr>
            <p:cNvCxnSpPr>
              <a:stCxn id="20" idx="3"/>
              <a:endCxn id="21" idx="1"/>
            </p:cNvCxnSpPr>
            <p:nvPr/>
          </p:nvCxnSpPr>
          <p:spPr>
            <a:xfrm flipV="1">
              <a:off x="13306962" y="5840380"/>
              <a:ext cx="1172557" cy="4224906"/>
            </a:xfrm>
            <a:prstGeom prst="bentConnector3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Connector: Elbow 118">
              <a:extLst>
                <a:ext uri="{FF2B5EF4-FFF2-40B4-BE49-F238E27FC236}">
                  <a16:creationId xmlns:a16="http://schemas.microsoft.com/office/drawing/2014/main" id="{A419E0B9-8B7D-DB6D-FCBE-5DBE8C470D6A}"/>
                </a:ext>
              </a:extLst>
            </p:cNvPr>
            <p:cNvCxnSpPr>
              <a:stCxn id="18" idx="3"/>
              <a:endCxn id="21" idx="1"/>
            </p:cNvCxnSpPr>
            <p:nvPr/>
          </p:nvCxnSpPr>
          <p:spPr>
            <a:xfrm flipV="1">
              <a:off x="13306966" y="5840380"/>
              <a:ext cx="1172553" cy="2084534"/>
            </a:xfrm>
            <a:prstGeom prst="bentConnector3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85B90AC0-98C3-093D-AB82-E7A3F94CE60C}"/>
                </a:ext>
              </a:extLst>
            </p:cNvPr>
            <p:cNvCxnSpPr>
              <a:stCxn id="17" idx="3"/>
              <a:endCxn id="21" idx="1"/>
            </p:cNvCxnSpPr>
            <p:nvPr/>
          </p:nvCxnSpPr>
          <p:spPr>
            <a:xfrm>
              <a:off x="13306961" y="5840380"/>
              <a:ext cx="117255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7605D3C6-E358-A6A5-6E0B-365C60DEF238}"/>
                </a:ext>
              </a:extLst>
            </p:cNvPr>
            <p:cNvCxnSpPr>
              <a:cxnSpLocks/>
              <a:stCxn id="24" idx="1"/>
              <a:endCxn id="30" idx="3"/>
            </p:cNvCxnSpPr>
            <p:nvPr/>
          </p:nvCxnSpPr>
          <p:spPr>
            <a:xfrm flipH="1">
              <a:off x="8532997" y="12447625"/>
              <a:ext cx="1907726" cy="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79672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19D9F-788C-50A5-AD59-A875FBC62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chart: Terminator 2">
            <a:extLst>
              <a:ext uri="{FF2B5EF4-FFF2-40B4-BE49-F238E27FC236}">
                <a16:creationId xmlns:a16="http://schemas.microsoft.com/office/drawing/2014/main" id="{9B671508-42F2-8472-DCDA-B424856AA52B}"/>
              </a:ext>
            </a:extLst>
          </p:cNvPr>
          <p:cNvSpPr/>
          <p:nvPr/>
        </p:nvSpPr>
        <p:spPr>
          <a:xfrm>
            <a:off x="11255295" y="3133878"/>
            <a:ext cx="1168560" cy="470738"/>
          </a:xfrm>
          <a:prstGeom prst="flowChartTerminator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(1).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Bắt đầu</a:t>
            </a:r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A2266E0-40B2-EC03-AE5F-CF56B83887F8}"/>
              </a:ext>
            </a:extLst>
          </p:cNvPr>
          <p:cNvSpPr/>
          <p:nvPr/>
        </p:nvSpPr>
        <p:spPr>
          <a:xfrm>
            <a:off x="10559415" y="3939074"/>
            <a:ext cx="2560320" cy="83210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(2).</a:t>
            </a:r>
          </a:p>
          <a:p>
            <a:pPr algn="ctr"/>
            <a:r>
              <a:rPr lang="en-US" sz="13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 quả thu được từ chương 4</a:t>
            </a:r>
          </a:p>
          <a:p>
            <a:r>
              <a:rPr lang="en-AU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Hệ số sạc đồng thời.</a:t>
            </a:r>
          </a:p>
          <a:p>
            <a:r>
              <a:rPr lang="en-AU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Nhu cầu sạc theo từng nhóm xe.</a:t>
            </a:r>
          </a:p>
        </p:txBody>
      </p:sp>
      <p:sp>
        <p:nvSpPr>
          <p:cNvPr id="119" name="Flowchart: Terminator 118">
            <a:extLst>
              <a:ext uri="{FF2B5EF4-FFF2-40B4-BE49-F238E27FC236}">
                <a16:creationId xmlns:a16="http://schemas.microsoft.com/office/drawing/2014/main" id="{ED27EE62-CFD1-F07E-17B6-25B28828AED1}"/>
              </a:ext>
            </a:extLst>
          </p:cNvPr>
          <p:cNvSpPr/>
          <p:nvPr/>
        </p:nvSpPr>
        <p:spPr>
          <a:xfrm>
            <a:off x="11255295" y="10667190"/>
            <a:ext cx="1168560" cy="470738"/>
          </a:xfrm>
          <a:prstGeom prst="flowChartTerminator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(7).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 thúc</a:t>
            </a:r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58C4435-FA35-D800-22BE-FF401C20E063}"/>
              </a:ext>
            </a:extLst>
          </p:cNvPr>
          <p:cNvCxnSpPr>
            <a:cxnSpLocks/>
            <a:stCxn id="3" idx="2"/>
            <a:endCxn id="33" idx="0"/>
          </p:cNvCxnSpPr>
          <p:nvPr/>
        </p:nvCxnSpPr>
        <p:spPr>
          <a:xfrm>
            <a:off x="11839575" y="3604618"/>
            <a:ext cx="0" cy="334459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90FB1955-6D94-A0BA-0D94-E82DB744CD0B}"/>
              </a:ext>
            </a:extLst>
          </p:cNvPr>
          <p:cNvSpPr/>
          <p:nvPr/>
        </p:nvSpPr>
        <p:spPr>
          <a:xfrm>
            <a:off x="10559415" y="4966256"/>
            <a:ext cx="2560320" cy="159329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(3).</a:t>
            </a:r>
          </a:p>
          <a:p>
            <a:pPr algn="ctr"/>
            <a:r>
              <a:rPr lang="en-US" sz="13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Chuẩn bị dữ liệu đầu vào</a:t>
            </a:r>
          </a:p>
          <a:p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Xác định sơ đồ phân khu và vị trí trạm sạc tiềm năng.</a:t>
            </a:r>
          </a:p>
          <a:p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Lập ma trận khoảng cách giữacác điểm nhu cầu sạc và các điểm cung cấp trạm sạc.</a:t>
            </a:r>
          </a:p>
          <a:p>
            <a:pPr algn="ctr"/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9B58CA6-8269-8C60-31FC-87B0EC3FB28C}"/>
              </a:ext>
            </a:extLst>
          </p:cNvPr>
          <p:cNvSpPr/>
          <p:nvPr/>
        </p:nvSpPr>
        <p:spPr>
          <a:xfrm>
            <a:off x="10552512" y="6778607"/>
            <a:ext cx="2560320" cy="148505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(4).</a:t>
            </a:r>
          </a:p>
          <a:p>
            <a:pPr algn="ctr"/>
            <a:r>
              <a:rPr lang="en-US" sz="13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Thiết lập mô hình MOMIP</a:t>
            </a:r>
          </a:p>
          <a:p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Xác định các biến quyết định.</a:t>
            </a:r>
          </a:p>
          <a:p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Xây dựng các hàm mục tiêu.</a:t>
            </a:r>
          </a:p>
          <a:p>
            <a:endParaRPr lang="en-US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Các ràng buộc đi kèm.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03BDEFB-8222-3F04-8264-E82E11570B6D}"/>
              </a:ext>
            </a:extLst>
          </p:cNvPr>
          <p:cNvSpPr/>
          <p:nvPr/>
        </p:nvSpPr>
        <p:spPr>
          <a:xfrm>
            <a:off x="10559415" y="9532558"/>
            <a:ext cx="2560320" cy="83078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(6).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Tổng hợp kết quả về vị trí và dung lượng trạm sạc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2EA4E84-A7E2-AD86-ED96-723AAFCCCCE4}"/>
              </a:ext>
            </a:extLst>
          </p:cNvPr>
          <p:cNvCxnSpPr>
            <a:cxnSpLocks/>
            <a:stCxn id="33" idx="2"/>
            <a:endCxn id="29" idx="0"/>
          </p:cNvCxnSpPr>
          <p:nvPr/>
        </p:nvCxnSpPr>
        <p:spPr>
          <a:xfrm>
            <a:off x="11839575" y="4771178"/>
            <a:ext cx="0" cy="19507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E8047D4-EF82-E2C8-2DA2-C1FA4D04E356}"/>
              </a:ext>
            </a:extLst>
          </p:cNvPr>
          <p:cNvCxnSpPr>
            <a:cxnSpLocks/>
            <a:stCxn id="29" idx="2"/>
            <a:endCxn id="30" idx="0"/>
          </p:cNvCxnSpPr>
          <p:nvPr/>
        </p:nvCxnSpPr>
        <p:spPr>
          <a:xfrm flipH="1">
            <a:off x="11832672" y="6559549"/>
            <a:ext cx="6903" cy="21905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C10A1853-E61C-B643-97CC-D594E691385B}"/>
              </a:ext>
            </a:extLst>
          </p:cNvPr>
          <p:cNvSpPr/>
          <p:nvPr/>
        </p:nvSpPr>
        <p:spPr>
          <a:xfrm>
            <a:off x="10552512" y="8482715"/>
            <a:ext cx="2560320" cy="83078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(5).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Lựa chọn giải thuật tối ưu</a:t>
            </a:r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242993C5-BBA2-9DB6-8A05-C8425D1A6598}"/>
              </a:ext>
            </a:extLst>
          </p:cNvPr>
          <p:cNvCxnSpPr>
            <a:cxnSpLocks/>
            <a:stCxn id="30" idx="2"/>
            <a:endCxn id="84" idx="0"/>
          </p:cNvCxnSpPr>
          <p:nvPr/>
        </p:nvCxnSpPr>
        <p:spPr>
          <a:xfrm>
            <a:off x="11832672" y="8263657"/>
            <a:ext cx="0" cy="21905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22764F0E-216F-88E9-A300-AB812D8A9BA6}"/>
              </a:ext>
            </a:extLst>
          </p:cNvPr>
          <p:cNvCxnSpPr>
            <a:stCxn id="84" idx="2"/>
            <a:endCxn id="31" idx="0"/>
          </p:cNvCxnSpPr>
          <p:nvPr/>
        </p:nvCxnSpPr>
        <p:spPr>
          <a:xfrm>
            <a:off x="11832672" y="9313500"/>
            <a:ext cx="6903" cy="21905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EB2A9018-71B6-9D44-B693-5C9D69F775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634216"/>
              </p:ext>
            </p:extLst>
          </p:nvPr>
        </p:nvGraphicFramePr>
        <p:xfrm>
          <a:off x="11553272" y="7708249"/>
          <a:ext cx="558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58720" imgH="228600" progId="Equation.DSMT4">
                  <p:embed/>
                </p:oleObj>
              </mc:Choice>
              <mc:Fallback>
                <p:oleObj name="Equation" r:id="rId2" imgW="558720" imgH="22860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9E951B7F-5786-6025-4388-56D13BCF13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553272" y="7708249"/>
                        <a:ext cx="5588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9DD2902-151D-19C7-9E47-B182D21EC4A1}"/>
              </a:ext>
            </a:extLst>
          </p:cNvPr>
          <p:cNvCxnSpPr>
            <a:stCxn id="31" idx="2"/>
            <a:endCxn id="119" idx="0"/>
          </p:cNvCxnSpPr>
          <p:nvPr/>
        </p:nvCxnSpPr>
        <p:spPr>
          <a:xfrm>
            <a:off x="11839575" y="10363343"/>
            <a:ext cx="0" cy="303847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5500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C2C79-CAE7-89CB-2B52-09006DDD9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chart: Terminator 2">
            <a:extLst>
              <a:ext uri="{FF2B5EF4-FFF2-40B4-BE49-F238E27FC236}">
                <a16:creationId xmlns:a16="http://schemas.microsoft.com/office/drawing/2014/main" id="{559B8771-3F46-92DC-3BB8-9AE09BF4F253}"/>
              </a:ext>
            </a:extLst>
          </p:cNvPr>
          <p:cNvSpPr/>
          <p:nvPr/>
        </p:nvSpPr>
        <p:spPr>
          <a:xfrm>
            <a:off x="11255295" y="3133878"/>
            <a:ext cx="1168560" cy="470738"/>
          </a:xfrm>
          <a:prstGeom prst="flowChartTerminator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(1).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Bắt đầu</a:t>
            </a:r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BC61DDB-E880-FB60-AD51-23E008ECB3D4}"/>
              </a:ext>
            </a:extLst>
          </p:cNvPr>
          <p:cNvSpPr/>
          <p:nvPr/>
        </p:nvSpPr>
        <p:spPr>
          <a:xfrm>
            <a:off x="13924915" y="2953195"/>
            <a:ext cx="2560320" cy="83210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(2).</a:t>
            </a:r>
          </a:p>
          <a:p>
            <a:pPr algn="ctr"/>
            <a:r>
              <a:rPr lang="en-US" sz="13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 quả thu được từ chương 4</a:t>
            </a:r>
          </a:p>
          <a:p>
            <a:r>
              <a:rPr lang="en-AU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Hệ số sạc đồng thời.</a:t>
            </a:r>
          </a:p>
          <a:p>
            <a:r>
              <a:rPr lang="en-AU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Nhu cầu sạc theo từng nhóm xe.</a:t>
            </a:r>
          </a:p>
        </p:txBody>
      </p:sp>
      <p:sp>
        <p:nvSpPr>
          <p:cNvPr id="119" name="Flowchart: Terminator 118">
            <a:extLst>
              <a:ext uri="{FF2B5EF4-FFF2-40B4-BE49-F238E27FC236}">
                <a16:creationId xmlns:a16="http://schemas.microsoft.com/office/drawing/2014/main" id="{29A8A5D0-0113-AAF1-26B5-93F53B6FC1AF}"/>
              </a:ext>
            </a:extLst>
          </p:cNvPr>
          <p:cNvSpPr/>
          <p:nvPr/>
        </p:nvSpPr>
        <p:spPr>
          <a:xfrm>
            <a:off x="11255295" y="5408571"/>
            <a:ext cx="1168560" cy="470738"/>
          </a:xfrm>
          <a:prstGeom prst="flowChartTerminator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(7).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 thúc</a:t>
            </a:r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EF67527-5762-59CD-1D3C-3C161911FF48}"/>
              </a:ext>
            </a:extLst>
          </p:cNvPr>
          <p:cNvSpPr/>
          <p:nvPr/>
        </p:nvSpPr>
        <p:spPr>
          <a:xfrm>
            <a:off x="17544415" y="2953195"/>
            <a:ext cx="2560320" cy="159329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(3).</a:t>
            </a:r>
          </a:p>
          <a:p>
            <a:pPr algn="ctr"/>
            <a:r>
              <a:rPr lang="en-US" sz="13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Chuẩn bị dữ liệu đầu vào</a:t>
            </a:r>
          </a:p>
          <a:p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Xác định sơ đồ phân khu và vị trí trạm sạc tiềm năng.</a:t>
            </a:r>
          </a:p>
          <a:p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Lập ma trận khoảng cách giữacác điểm nhu cầu sạc và các điểm cung cấp trạm sạc.</a:t>
            </a:r>
          </a:p>
          <a:p>
            <a:pPr algn="ctr"/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C1C26D6-3E2D-F464-6348-A9DDAD2D8B44}"/>
              </a:ext>
            </a:extLst>
          </p:cNvPr>
          <p:cNvSpPr/>
          <p:nvPr/>
        </p:nvSpPr>
        <p:spPr>
          <a:xfrm>
            <a:off x="17544415" y="5229207"/>
            <a:ext cx="2560320" cy="148505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(4).</a:t>
            </a:r>
          </a:p>
          <a:p>
            <a:pPr algn="ctr"/>
            <a:r>
              <a:rPr lang="en-US" sz="13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Thiết lập mô hình MOMIP</a:t>
            </a:r>
          </a:p>
          <a:p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Xác định các biến quyết định.</a:t>
            </a:r>
          </a:p>
          <a:p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Xây dựng các hàm mục tiêu.</a:t>
            </a:r>
          </a:p>
          <a:p>
            <a:endParaRPr lang="en-US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Các ràng buộc đi kèm.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28554E9-622A-DF6F-4A44-B20553CFCEE6}"/>
              </a:ext>
            </a:extLst>
          </p:cNvPr>
          <p:cNvSpPr/>
          <p:nvPr/>
        </p:nvSpPr>
        <p:spPr>
          <a:xfrm>
            <a:off x="10559415" y="9532558"/>
            <a:ext cx="2560320" cy="83078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(6).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Tổng hợp kết quả về vị trí và dung lượng trạm sạc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8331E96-D974-F9EF-BD8C-B75481B77ED6}"/>
              </a:ext>
            </a:extLst>
          </p:cNvPr>
          <p:cNvSpPr/>
          <p:nvPr/>
        </p:nvSpPr>
        <p:spPr>
          <a:xfrm>
            <a:off x="13924915" y="5229207"/>
            <a:ext cx="2560320" cy="83078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(5).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Lựa chọn giải thuật tối ưu</a:t>
            </a:r>
          </a:p>
        </p:txBody>
      </p: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28F071CE-858F-0729-8645-11EA6745E275}"/>
              </a:ext>
            </a:extLst>
          </p:cNvPr>
          <p:cNvCxnSpPr>
            <a:stCxn id="84" idx="2"/>
            <a:endCxn id="31" idx="0"/>
          </p:cNvCxnSpPr>
          <p:nvPr/>
        </p:nvCxnSpPr>
        <p:spPr>
          <a:xfrm flipH="1">
            <a:off x="11839575" y="6059992"/>
            <a:ext cx="3365500" cy="3472566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1F3D34C2-FEEE-A5E4-651B-09316C9932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553272" y="7708249"/>
          <a:ext cx="558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58720" imgH="228600" progId="Equation.DSMT4">
                  <p:embed/>
                </p:oleObj>
              </mc:Choice>
              <mc:Fallback>
                <p:oleObj name="Equation" r:id="rId2" imgW="558720" imgH="22860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EB2A9018-71B6-9D44-B693-5C9D69F775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553272" y="7708249"/>
                        <a:ext cx="5588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37974000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943</TotalTime>
  <Words>1275</Words>
  <Application>Microsoft Office PowerPoint</Application>
  <PresentationFormat>Custom</PresentationFormat>
  <Paragraphs>258</Paragraphs>
  <Slides>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Bierstadt</vt:lpstr>
      <vt:lpstr>Times New Roman</vt:lpstr>
      <vt:lpstr>GestaltVTI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Khai Nguyen</dc:creator>
  <cp:lastModifiedBy>Khai Nguyen</cp:lastModifiedBy>
  <cp:revision>15</cp:revision>
  <dcterms:created xsi:type="dcterms:W3CDTF">2025-10-28T06:05:37Z</dcterms:created>
  <dcterms:modified xsi:type="dcterms:W3CDTF">2026-04-28T12:22:44Z</dcterms:modified>
</cp:coreProperties>
</file>